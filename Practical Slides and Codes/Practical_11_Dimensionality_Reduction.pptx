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43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96" r:id="rId47"/>
    <p:sldId id="397" r:id="rId48"/>
    <p:sldId id="398" r:id="rId49"/>
    <p:sldId id="399" r:id="rId50"/>
    <p:sldId id="400" r:id="rId51"/>
    <p:sldId id="401" r:id="rId52"/>
    <p:sldId id="402" r:id="rId53"/>
    <p:sldId id="403" r:id="rId54"/>
    <p:sldId id="404" r:id="rId55"/>
    <p:sldId id="405" r:id="rId56"/>
    <p:sldId id="406" r:id="rId57"/>
    <p:sldId id="407" r:id="rId58"/>
    <p:sldId id="408" r:id="rId59"/>
    <p:sldId id="409" r:id="rId60"/>
    <p:sldId id="410" r:id="rId61"/>
    <p:sldId id="411" r:id="rId62"/>
    <p:sldId id="412" r:id="rId63"/>
    <p:sldId id="413" r:id="rId64"/>
    <p:sldId id="414" r:id="rId65"/>
    <p:sldId id="415" r:id="rId66"/>
    <p:sldId id="416" r:id="rId67"/>
    <p:sldId id="417" r:id="rId68"/>
    <p:sldId id="418" r:id="rId69"/>
    <p:sldId id="425" r:id="rId70"/>
    <p:sldId id="431" r:id="rId71"/>
    <p:sldId id="424" r:id="rId72"/>
    <p:sldId id="427" r:id="rId73"/>
    <p:sldId id="428" r:id="rId74"/>
    <p:sldId id="432" r:id="rId75"/>
    <p:sldId id="423" r:id="rId7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E77DFE-CCFF-4222-AF01-BD32050AE84C}" v="56" dt="2021-09-11T04:30:07.044"/>
    <p1510:client id="{C1645FBF-82A6-4E6D-A9A5-83BF8ED61D6B}" v="33" dt="2021-09-11T17:55:35.0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UJIT CHAKRABORTY" clId="Web-{96E77DFE-CCFF-4222-AF01-BD32050AE84C}"/>
    <pc:docChg chg="modSld">
      <pc:chgData name="TANUJIT CHAKRABORTY" userId="" providerId="" clId="Web-{96E77DFE-CCFF-4222-AF01-BD32050AE84C}" dt="2021-09-11T04:30:05.153" v="49"/>
      <pc:docMkLst>
        <pc:docMk/>
      </pc:docMkLst>
      <pc:sldChg chg="modSp">
        <pc:chgData name="TANUJIT CHAKRABORTY" userId="" providerId="" clId="Web-{96E77DFE-CCFF-4222-AF01-BD32050AE84C}" dt="2021-09-11T04:30:05.153" v="49"/>
        <pc:sldMkLst>
          <pc:docMk/>
          <pc:sldMk cId="0" sldId="257"/>
        </pc:sldMkLst>
        <pc:graphicFrameChg chg="mod modGraphic">
          <ac:chgData name="TANUJIT CHAKRABORTY" userId="" providerId="" clId="Web-{96E77DFE-CCFF-4222-AF01-BD32050AE84C}" dt="2021-09-11T04:30:05.153" v="49"/>
          <ac:graphicFrameMkLst>
            <pc:docMk/>
            <pc:sldMk cId="0" sldId="257"/>
            <ac:graphicFrameMk id="5" creationId="{00000000-0000-0000-0000-000000000000}"/>
          </ac:graphicFrameMkLst>
        </pc:graphicFrameChg>
      </pc:sldChg>
    </pc:docChg>
  </pc:docChgLst>
  <pc:docChgLst>
    <pc:chgData name="TANUJIT CHAKRABORTY" userId="4KLHwdhqaY4mfkCS4f4LAk1YK8Lc/3nuJIMYGq/RYus=" providerId="None" clId="Web-{C1645FBF-82A6-4E6D-A9A5-83BF8ED61D6B}"/>
    <pc:docChg chg="modSld">
      <pc:chgData name="TANUJIT CHAKRABORTY" userId="4KLHwdhqaY4mfkCS4f4LAk1YK8Lc/3nuJIMYGq/RYus=" providerId="None" clId="Web-{C1645FBF-82A6-4E6D-A9A5-83BF8ED61D6B}" dt="2021-09-11T17:55:35.046" v="16" actId="20577"/>
      <pc:docMkLst>
        <pc:docMk/>
      </pc:docMkLst>
      <pc:sldChg chg="modSp">
        <pc:chgData name="TANUJIT CHAKRABORTY" userId="4KLHwdhqaY4mfkCS4f4LAk1YK8Lc/3nuJIMYGq/RYus=" providerId="None" clId="Web-{C1645FBF-82A6-4E6D-A9A5-83BF8ED61D6B}" dt="2021-09-11T17:55:35.046" v="16" actId="20577"/>
        <pc:sldMkLst>
          <pc:docMk/>
          <pc:sldMk cId="0" sldId="256"/>
        </pc:sldMkLst>
        <pc:spChg chg="mod">
          <ac:chgData name="TANUJIT CHAKRABORTY" userId="4KLHwdhqaY4mfkCS4f4LAk1YK8Lc/3nuJIMYGq/RYus=" providerId="None" clId="Web-{C1645FBF-82A6-4E6D-A9A5-83BF8ED61D6B}" dt="2021-09-11T17:55:35.046" v="16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84250-5B66-462C-8938-25B082ACDEDD}" type="datetimeFigureOut">
              <a:rPr lang="en-IN" smtClean="0"/>
              <a:pPr/>
              <a:t>26-04-2022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E97E1-E739-49CC-BAE7-E114753388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849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7EC1C-1D45-42A7-A00C-ECDF4499CBB7}" type="datetimeFigureOut">
              <a:rPr lang="en-IN" smtClean="0"/>
              <a:pPr/>
              <a:t>26-04-2022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73BA-BD3B-4DFC-9DF2-90839CE2D95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31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48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9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37843"/>
            <a:ext cx="9144000" cy="58419"/>
          </a:xfrm>
          <a:custGeom>
            <a:avLst/>
            <a:gdLst/>
            <a:ahLst/>
            <a:cxnLst/>
            <a:rect l="l" t="t" r="r" b="b"/>
            <a:pathLst>
              <a:path w="9144000" h="58419">
                <a:moveTo>
                  <a:pt x="9144000" y="46355"/>
                </a:moveTo>
                <a:lnTo>
                  <a:pt x="0" y="46355"/>
                </a:lnTo>
                <a:lnTo>
                  <a:pt x="0" y="57912"/>
                </a:lnTo>
                <a:lnTo>
                  <a:pt x="9144000" y="57912"/>
                </a:lnTo>
                <a:lnTo>
                  <a:pt x="9144000" y="46355"/>
                </a:lnTo>
                <a:close/>
              </a:path>
              <a:path w="9144000" h="58419">
                <a:moveTo>
                  <a:pt x="9144000" y="0"/>
                </a:moveTo>
                <a:lnTo>
                  <a:pt x="0" y="0"/>
                </a:lnTo>
                <a:lnTo>
                  <a:pt x="0" y="34798"/>
                </a:lnTo>
                <a:lnTo>
                  <a:pt x="9144000" y="3479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CC66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26-Apr-22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‹#›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C66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26-Apr-22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‹#›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C66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26-Apr-22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‹#›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37843"/>
            <a:ext cx="9144000" cy="58419"/>
          </a:xfrm>
          <a:custGeom>
            <a:avLst/>
            <a:gdLst/>
            <a:ahLst/>
            <a:cxnLst/>
            <a:rect l="l" t="t" r="r" b="b"/>
            <a:pathLst>
              <a:path w="9144000" h="58419">
                <a:moveTo>
                  <a:pt x="9144000" y="23114"/>
                </a:moveTo>
                <a:lnTo>
                  <a:pt x="0" y="23114"/>
                </a:lnTo>
                <a:lnTo>
                  <a:pt x="0" y="57912"/>
                </a:lnTo>
                <a:lnTo>
                  <a:pt x="9144000" y="57912"/>
                </a:lnTo>
                <a:lnTo>
                  <a:pt x="9144000" y="23114"/>
                </a:lnTo>
                <a:close/>
              </a:path>
              <a:path w="9144000" h="58419">
                <a:moveTo>
                  <a:pt x="9144000" y="0"/>
                </a:moveTo>
                <a:lnTo>
                  <a:pt x="0" y="0"/>
                </a:lnTo>
                <a:lnTo>
                  <a:pt x="0" y="11557"/>
                </a:lnTo>
                <a:lnTo>
                  <a:pt x="9144000" y="11557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C66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26-Apr-22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‹#›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26-Apr-22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‹#›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14043"/>
            <a:ext cx="9144000" cy="58419"/>
          </a:xfrm>
          <a:custGeom>
            <a:avLst/>
            <a:gdLst/>
            <a:ahLst/>
            <a:cxnLst/>
            <a:rect l="l" t="t" r="r" b="b"/>
            <a:pathLst>
              <a:path w="9144000" h="58419">
                <a:moveTo>
                  <a:pt x="9144000" y="46355"/>
                </a:moveTo>
                <a:lnTo>
                  <a:pt x="0" y="46355"/>
                </a:lnTo>
                <a:lnTo>
                  <a:pt x="0" y="57912"/>
                </a:lnTo>
                <a:lnTo>
                  <a:pt x="9144000" y="57912"/>
                </a:lnTo>
                <a:lnTo>
                  <a:pt x="9144000" y="46355"/>
                </a:lnTo>
                <a:close/>
              </a:path>
              <a:path w="9144000" h="58419">
                <a:moveTo>
                  <a:pt x="9144000" y="0"/>
                </a:moveTo>
                <a:lnTo>
                  <a:pt x="0" y="0"/>
                </a:lnTo>
                <a:lnTo>
                  <a:pt x="0" y="34798"/>
                </a:lnTo>
                <a:lnTo>
                  <a:pt x="9144000" y="3479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661" y="250952"/>
            <a:ext cx="8980677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CC660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39" y="1176019"/>
            <a:ext cx="8986520" cy="3525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00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26-Apr-22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6318" y="6445541"/>
            <a:ext cx="247015" cy="197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‹#›</a:t>
            </a:fld>
            <a:endParaRPr dirty="0">
              <a:latin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271768" y="4648199"/>
            <a:ext cx="6451909" cy="1354307"/>
          </a:xfrm>
          <a:prstGeom prst="rect">
            <a:avLst/>
          </a:prstGeom>
        </p:spPr>
        <p:txBody>
          <a:bodyPr vert="horz" lIns="0" tIns="44658" rIns="17863" bIns="44658" anchor="t">
            <a:normAutofit/>
          </a:bodyPr>
          <a:lstStyle/>
          <a:p>
            <a:pPr algn="ctr"/>
            <a:r>
              <a:rPr lang="en-US" sz="1954" b="1" dirty="0">
                <a:solidFill>
                  <a:schemeClr val="accent2"/>
                </a:solidFill>
              </a:rPr>
              <a:t>Dr. Tanujit Chakraborty</a:t>
            </a:r>
            <a:r>
              <a:rPr lang="en-IN" sz="1954" dirty="0">
                <a:solidFill>
                  <a:schemeClr val="accent2"/>
                </a:solidFill>
              </a:rPr>
              <a:t> </a:t>
            </a:r>
          </a:p>
          <a:p>
            <a:pPr algn="ctr"/>
            <a:r>
              <a:rPr lang="en-US" sz="1954" dirty="0">
                <a:solidFill>
                  <a:schemeClr val="accent2"/>
                </a:solidFill>
              </a:rPr>
              <a:t>Assistant Professor of Statistics</a:t>
            </a:r>
          </a:p>
          <a:p>
            <a:pPr algn="ctr"/>
            <a:r>
              <a:rPr lang="en-US" sz="1954" i="1" dirty="0">
                <a:solidFill>
                  <a:schemeClr val="tx1"/>
                </a:solidFill>
              </a:rPr>
              <a:t>Sorbonne University Abu Dhabi </a:t>
            </a:r>
            <a:endParaRPr lang="en-IN" sz="2344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Rectangle: Rounded Corners 1">
            <a:extLst>
              <a:ext uri="{FF2B5EF4-FFF2-40B4-BE49-F238E27FC236}">
                <a16:creationId xmlns:a16="http://schemas.microsoft.com/office/drawing/2014/main" id="{39026591-C985-46DE-8A13-80CF91954315}"/>
              </a:ext>
            </a:extLst>
          </p:cNvPr>
          <p:cNvSpPr/>
          <p:nvPr/>
        </p:nvSpPr>
        <p:spPr>
          <a:xfrm>
            <a:off x="1271768" y="1886317"/>
            <a:ext cx="6668533" cy="2252307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98" b="1" dirty="0">
                <a:solidFill>
                  <a:schemeClr val="bg1"/>
                </a:solidFill>
              </a:rPr>
              <a:t>Dimensionality Reduction using R</a:t>
            </a:r>
          </a:p>
        </p:txBody>
      </p:sp>
    </p:spTree>
    <p:extLst>
      <p:ext uri="{BB962C8B-B14F-4D97-AF65-F5344CB8AC3E}">
        <p14:creationId xmlns:p14="http://schemas.microsoft.com/office/powerpoint/2010/main" val="126502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37843"/>
            <a:ext cx="9144000" cy="58419"/>
          </a:xfrm>
          <a:custGeom>
            <a:avLst/>
            <a:gdLst/>
            <a:ahLst/>
            <a:cxnLst/>
            <a:rect l="l" t="t" r="r" b="b"/>
            <a:pathLst>
              <a:path w="9144000" h="58419">
                <a:moveTo>
                  <a:pt x="9144000" y="23114"/>
                </a:moveTo>
                <a:lnTo>
                  <a:pt x="0" y="23114"/>
                </a:lnTo>
                <a:lnTo>
                  <a:pt x="0" y="57912"/>
                </a:lnTo>
                <a:lnTo>
                  <a:pt x="9144000" y="57912"/>
                </a:lnTo>
                <a:lnTo>
                  <a:pt x="9144000" y="23114"/>
                </a:lnTo>
                <a:close/>
              </a:path>
              <a:path w="9144000" h="58419">
                <a:moveTo>
                  <a:pt x="9144000" y="0"/>
                </a:moveTo>
                <a:lnTo>
                  <a:pt x="0" y="0"/>
                </a:lnTo>
                <a:lnTo>
                  <a:pt x="0" y="11557"/>
                </a:lnTo>
                <a:lnTo>
                  <a:pt x="9144000" y="11557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2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47827"/>
            <a:ext cx="1282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CONTENTS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818504"/>
              </p:ext>
            </p:extLst>
          </p:nvPr>
        </p:nvGraphicFramePr>
        <p:xfrm>
          <a:off x="838200" y="1684645"/>
          <a:ext cx="7315200" cy="31159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1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6311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lang="en-IN" sz="2150" spc="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R="234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SL</a:t>
                      </a:r>
                      <a:r>
                        <a:rPr sz="1800" spc="-11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No.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50" dirty="0">
                        <a:latin typeface="Times New Roman"/>
                        <a:cs typeface="Times New Roman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800" spc="-3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Today’s </a:t>
                      </a:r>
                      <a:r>
                        <a:rPr sz="1800" spc="-3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Topics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4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Principal Component</a:t>
                      </a:r>
                      <a:r>
                        <a:rPr sz="18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Analysis</a:t>
                      </a:r>
                      <a:endParaRPr lang="en-IN" sz="1800" spc="-10" dirty="0">
                        <a:latin typeface="Arial"/>
                        <a:cs typeface="Arial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1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Factor</a:t>
                      </a:r>
                      <a:r>
                        <a:rPr sz="18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Analysis</a:t>
                      </a:r>
                      <a:endParaRPr lang="en-IN" sz="1800" spc="-10" dirty="0">
                        <a:latin typeface="Arial"/>
                        <a:cs typeface="Arial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1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lang="en-IN" sz="1800" dirty="0">
                          <a:latin typeface="Arial"/>
                          <a:cs typeface="Arial"/>
                        </a:rPr>
                        <a:t>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7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latin typeface="Arial"/>
                          <a:cs typeface="Arial"/>
                        </a:rPr>
                        <a:t>Market Basket Analysis</a:t>
                      </a: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48027" y="2433827"/>
            <a:ext cx="5038725" cy="1228725"/>
            <a:chOff x="1748027" y="2433827"/>
            <a:chExt cx="5038725" cy="1228725"/>
          </a:xfrm>
        </p:grpSpPr>
        <p:sp>
          <p:nvSpPr>
            <p:cNvPr id="4" name="object 4"/>
            <p:cNvSpPr/>
            <p:nvPr/>
          </p:nvSpPr>
          <p:spPr>
            <a:xfrm>
              <a:off x="1752599" y="24383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482600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4826000" y="1219200"/>
                  </a:lnTo>
                  <a:lnTo>
                    <a:pt x="4872605" y="1213835"/>
                  </a:lnTo>
                  <a:lnTo>
                    <a:pt x="4915381" y="1198554"/>
                  </a:lnTo>
                  <a:lnTo>
                    <a:pt x="4953109" y="1174573"/>
                  </a:lnTo>
                  <a:lnTo>
                    <a:pt x="4984573" y="1143109"/>
                  </a:lnTo>
                  <a:lnTo>
                    <a:pt x="5008554" y="1105381"/>
                  </a:lnTo>
                  <a:lnTo>
                    <a:pt x="5023835" y="1062605"/>
                  </a:lnTo>
                  <a:lnTo>
                    <a:pt x="5029200" y="1016000"/>
                  </a:lnTo>
                  <a:lnTo>
                    <a:pt x="5029200" y="203200"/>
                  </a:lnTo>
                  <a:lnTo>
                    <a:pt x="5023835" y="156594"/>
                  </a:lnTo>
                  <a:lnTo>
                    <a:pt x="5008554" y="113818"/>
                  </a:lnTo>
                  <a:lnTo>
                    <a:pt x="4984573" y="76090"/>
                  </a:lnTo>
                  <a:lnTo>
                    <a:pt x="4953109" y="44626"/>
                  </a:lnTo>
                  <a:lnTo>
                    <a:pt x="4915381" y="20645"/>
                  </a:lnTo>
                  <a:lnTo>
                    <a:pt x="4872605" y="5364"/>
                  </a:lnTo>
                  <a:lnTo>
                    <a:pt x="4826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2599" y="24383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4826000" y="0"/>
                  </a:lnTo>
                  <a:lnTo>
                    <a:pt x="4872605" y="5364"/>
                  </a:lnTo>
                  <a:lnTo>
                    <a:pt x="4915381" y="20645"/>
                  </a:lnTo>
                  <a:lnTo>
                    <a:pt x="4953109" y="44626"/>
                  </a:lnTo>
                  <a:lnTo>
                    <a:pt x="4984573" y="76090"/>
                  </a:lnTo>
                  <a:lnTo>
                    <a:pt x="5008554" y="113818"/>
                  </a:lnTo>
                  <a:lnTo>
                    <a:pt x="5023835" y="156594"/>
                  </a:lnTo>
                  <a:lnTo>
                    <a:pt x="5029200" y="203200"/>
                  </a:lnTo>
                  <a:lnTo>
                    <a:pt x="5029200" y="1016000"/>
                  </a:lnTo>
                  <a:lnTo>
                    <a:pt x="5023835" y="1062605"/>
                  </a:lnTo>
                  <a:lnTo>
                    <a:pt x="5008554" y="1105381"/>
                  </a:lnTo>
                  <a:lnTo>
                    <a:pt x="4984573" y="1143109"/>
                  </a:lnTo>
                  <a:lnTo>
                    <a:pt x="4953109" y="1174573"/>
                  </a:lnTo>
                  <a:lnTo>
                    <a:pt x="4915381" y="1198554"/>
                  </a:lnTo>
                  <a:lnTo>
                    <a:pt x="4872605" y="1213835"/>
                  </a:lnTo>
                  <a:lnTo>
                    <a:pt x="482600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77261" y="2693035"/>
            <a:ext cx="35794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sz="2200" b="1" spc="-25" dirty="0">
                <a:solidFill>
                  <a:srgbClr val="FFFFFF"/>
                </a:solidFill>
                <a:latin typeface="Arial"/>
                <a:cs typeface="Arial"/>
              </a:rPr>
              <a:t>PRINCIPAL </a:t>
            </a:r>
            <a:r>
              <a:rPr sz="2200" b="1" spc="-10" dirty="0">
                <a:solidFill>
                  <a:srgbClr val="FFFFFF"/>
                </a:solidFill>
                <a:latin typeface="Arial"/>
                <a:cs typeface="Arial"/>
              </a:rPr>
              <a:t>COMPONENTS  </a:t>
            </a:r>
            <a:r>
              <a:rPr sz="2200" b="1" spc="-3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3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41121"/>
            <a:ext cx="8662035" cy="3468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Arial"/>
              <a:cs typeface="Arial"/>
            </a:endParaRPr>
          </a:p>
          <a:p>
            <a:pPr marL="610235" indent="-130175">
              <a:lnSpc>
                <a:spcPct val="100000"/>
              </a:lnSpc>
              <a:buChar char="•"/>
              <a:tabLst>
                <a:tab pos="610870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dimensionality reduction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technique</a:t>
            </a:r>
            <a:endParaRPr sz="1800">
              <a:latin typeface="Arial"/>
              <a:cs typeface="Arial"/>
            </a:endParaRPr>
          </a:p>
          <a:p>
            <a:pPr marL="663575" marR="5080" indent="-182880">
              <a:lnSpc>
                <a:spcPct val="100000"/>
              </a:lnSpc>
              <a:spcBef>
                <a:spcPts val="1080"/>
              </a:spcBef>
              <a:buChar char="•"/>
              <a:tabLst>
                <a:tab pos="664210" algn="l"/>
              </a:tabLst>
            </a:pPr>
            <a:r>
              <a:rPr sz="1800" spc="-5" dirty="0">
                <a:latin typeface="Arial"/>
                <a:cs typeface="Arial"/>
              </a:rPr>
              <a:t>Reduces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dimensionality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multivariate data without compromising much  on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variation 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original data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set.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Achieved </a:t>
            </a:r>
            <a:r>
              <a:rPr sz="1800" dirty="0">
                <a:latin typeface="Arial"/>
                <a:cs typeface="Arial"/>
              </a:rPr>
              <a:t>by </a:t>
            </a:r>
            <a:r>
              <a:rPr sz="1800" spc="-5" dirty="0">
                <a:latin typeface="Arial"/>
                <a:cs typeface="Arial"/>
              </a:rPr>
              <a:t>transforming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original varaible into a new </a:t>
            </a:r>
            <a:r>
              <a:rPr sz="1800" dirty="0">
                <a:latin typeface="Arial"/>
                <a:cs typeface="Arial"/>
              </a:rPr>
              <a:t>set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3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 marL="6604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namely </a:t>
            </a:r>
            <a:r>
              <a:rPr sz="1800" spc="-10" dirty="0">
                <a:latin typeface="Arial"/>
                <a:cs typeface="Arial"/>
              </a:rPr>
              <a:t>prinipal </a:t>
            </a:r>
            <a:r>
              <a:rPr sz="1800" spc="-5" dirty="0">
                <a:latin typeface="Arial"/>
                <a:cs typeface="Arial"/>
              </a:rPr>
              <a:t>components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(PCAs)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dirty="0">
                <a:latin typeface="Arial"/>
                <a:cs typeface="Arial"/>
              </a:rPr>
              <a:t>PCAs </a:t>
            </a:r>
            <a:r>
              <a:rPr sz="1800" spc="-5" dirty="0">
                <a:latin typeface="Arial"/>
                <a:cs typeface="Arial"/>
              </a:rPr>
              <a:t>are uncorrelated and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ordered</a:t>
            </a:r>
            <a:endParaRPr sz="1800">
              <a:latin typeface="Arial"/>
              <a:cs typeface="Arial"/>
            </a:endParaRPr>
          </a:p>
          <a:p>
            <a:pPr marL="660400" marR="635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Hence </a:t>
            </a:r>
            <a:r>
              <a:rPr sz="1800" dirty="0">
                <a:latin typeface="Arial"/>
                <a:cs typeface="Arial"/>
              </a:rPr>
              <a:t>the first few </a:t>
            </a:r>
            <a:r>
              <a:rPr sz="1800" spc="-5" dirty="0">
                <a:latin typeface="Arial"/>
                <a:cs typeface="Arial"/>
              </a:rPr>
              <a:t>of them account </a:t>
            </a:r>
            <a:r>
              <a:rPr sz="1800" dirty="0">
                <a:latin typeface="Arial"/>
                <a:cs typeface="Arial"/>
              </a:rPr>
              <a:t>for most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variation </a:t>
            </a:r>
            <a:r>
              <a:rPr sz="1800" dirty="0">
                <a:latin typeface="Arial"/>
                <a:cs typeface="Arial"/>
              </a:rPr>
              <a:t>in the </a:t>
            </a:r>
            <a:r>
              <a:rPr sz="1800" spc="-5" dirty="0">
                <a:latin typeface="Arial"/>
                <a:cs typeface="Arial"/>
              </a:rPr>
              <a:t>orignal  variables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4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61" y="250952"/>
            <a:ext cx="8980677" cy="276999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5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39" y="718769"/>
            <a:ext cx="8764905" cy="3541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688975" indent="-183515">
              <a:lnSpc>
                <a:spcPct val="100000"/>
              </a:lnSpc>
              <a:spcBef>
                <a:spcPts val="1620"/>
              </a:spcBef>
              <a:buChar char="•"/>
              <a:tabLst>
                <a:tab pos="689610" algn="l"/>
              </a:tabLst>
            </a:pPr>
            <a:r>
              <a:rPr sz="1800" spc="-5" dirty="0">
                <a:latin typeface="Arial"/>
                <a:cs typeface="Arial"/>
              </a:rPr>
              <a:t>Desribes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variation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correlated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(x</a:t>
            </a:r>
            <a:r>
              <a:rPr sz="1800" spc="-15" baseline="-20833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,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x</a:t>
            </a:r>
            <a:r>
              <a:rPr sz="1800" spc="-7" baseline="-20833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-,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q</a:t>
            </a:r>
            <a:r>
              <a:rPr sz="1800" spc="-10" dirty="0">
                <a:latin typeface="Arial"/>
                <a:cs typeface="Arial"/>
              </a:rPr>
              <a:t>)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68897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set of uncorrelated variables </a:t>
            </a:r>
            <a:r>
              <a:rPr sz="1800" dirty="0">
                <a:latin typeface="Arial"/>
                <a:cs typeface="Arial"/>
              </a:rPr>
              <a:t>y = </a:t>
            </a:r>
            <a:r>
              <a:rPr sz="1800" spc="-10" dirty="0">
                <a:latin typeface="Arial"/>
                <a:cs typeface="Arial"/>
              </a:rPr>
              <a:t>(y</a:t>
            </a:r>
            <a:r>
              <a:rPr sz="1800" spc="-15" baseline="-20833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, y</a:t>
            </a:r>
            <a:r>
              <a:rPr sz="1800" spc="-15" baseline="-20833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, </a:t>
            </a:r>
            <a:r>
              <a:rPr sz="1800" dirty="0">
                <a:latin typeface="Arial"/>
                <a:cs typeface="Arial"/>
              </a:rPr>
              <a:t>- - </a:t>
            </a:r>
            <a:r>
              <a:rPr sz="1800" spc="-5" dirty="0">
                <a:latin typeface="Arial"/>
                <a:cs typeface="Arial"/>
              </a:rPr>
              <a:t>-,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q</a:t>
            </a:r>
            <a:r>
              <a:rPr sz="1800" spc="-1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688975" indent="-183515">
              <a:lnSpc>
                <a:spcPct val="100000"/>
              </a:lnSpc>
              <a:spcBef>
                <a:spcPts val="1080"/>
              </a:spcBef>
              <a:buChar char="•"/>
              <a:tabLst>
                <a:tab pos="689610" algn="l"/>
              </a:tabLst>
            </a:pPr>
            <a:r>
              <a:rPr sz="1800" spc="-5" dirty="0">
                <a:latin typeface="Arial"/>
                <a:cs typeface="Arial"/>
              </a:rPr>
              <a:t>Each principal component is a linear combination of </a:t>
            </a:r>
            <a:r>
              <a:rPr sz="1800" dirty="0">
                <a:latin typeface="Arial"/>
                <a:cs typeface="Arial"/>
              </a:rPr>
              <a:t>the x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variables.</a:t>
            </a:r>
            <a:endParaRPr sz="1800">
              <a:latin typeface="Arial"/>
              <a:cs typeface="Arial"/>
            </a:endParaRPr>
          </a:p>
          <a:p>
            <a:pPr marL="688975" indent="-183515">
              <a:lnSpc>
                <a:spcPct val="100000"/>
              </a:lnSpc>
              <a:spcBef>
                <a:spcPts val="1080"/>
              </a:spcBef>
              <a:buChar char="•"/>
              <a:tabLst>
                <a:tab pos="68961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new variables are derived in decreasing order of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importance.</a:t>
            </a:r>
            <a:endParaRPr sz="1800">
              <a:latin typeface="Arial"/>
              <a:cs typeface="Arial"/>
            </a:endParaRPr>
          </a:p>
          <a:p>
            <a:pPr marL="688975" marR="81280" indent="-182880">
              <a:lnSpc>
                <a:spcPct val="100000"/>
              </a:lnSpc>
              <a:spcBef>
                <a:spcPts val="1080"/>
              </a:spcBef>
              <a:buChar char="•"/>
              <a:tabLst>
                <a:tab pos="689610" algn="l"/>
                <a:tab pos="1481455" algn="l"/>
                <a:tab pos="1943100" algn="l"/>
                <a:tab pos="2876550" algn="l"/>
                <a:tab pos="3275329" algn="l"/>
                <a:tab pos="4399280" algn="l"/>
                <a:tab pos="5371465" algn="l"/>
                <a:tab pos="6367145" algn="l"/>
                <a:tab pos="6677659" algn="l"/>
                <a:tab pos="6924675" algn="l"/>
                <a:tab pos="7753984" algn="l"/>
                <a:tab pos="8114665" algn="l"/>
              </a:tabLst>
            </a:pPr>
            <a:r>
              <a:rPr sz="1800" spc="-5" dirty="0">
                <a:latin typeface="Arial"/>
                <a:cs typeface="Arial"/>
              </a:rPr>
              <a:t>H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nce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y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baseline="-20833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5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count</a:t>
            </a:r>
            <a:r>
              <a:rPr sz="1800" dirty="0">
                <a:latin typeface="Arial"/>
                <a:cs typeface="Arial"/>
              </a:rPr>
              <a:t>	for	</a:t>
            </a:r>
            <a:r>
              <a:rPr sz="1800" spc="-5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xim</a:t>
            </a:r>
            <a:r>
              <a:rPr sz="1800" spc="-15" dirty="0">
                <a:latin typeface="Arial"/>
                <a:cs typeface="Arial"/>
              </a:rPr>
              <a:t>u</a:t>
            </a:r>
            <a:r>
              <a:rPr sz="1800" dirty="0">
                <a:latin typeface="Arial"/>
                <a:cs typeface="Arial"/>
              </a:rPr>
              <a:t>m	</a:t>
            </a:r>
            <a:r>
              <a:rPr sz="1800" spc="-5" dirty="0">
                <a:latin typeface="Arial"/>
                <a:cs typeface="Arial"/>
              </a:rPr>
              <a:t>p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10" dirty="0">
                <a:latin typeface="Arial"/>
                <a:cs typeface="Arial"/>
              </a:rPr>
              <a:t>s</a:t>
            </a:r>
            <a:r>
              <a:rPr sz="1800" spc="-5" dirty="0">
                <a:latin typeface="Arial"/>
                <a:cs typeface="Arial"/>
              </a:rPr>
              <a:t>i</a:t>
            </a:r>
            <a:r>
              <a:rPr sz="1800" spc="-15" dirty="0">
                <a:latin typeface="Arial"/>
                <a:cs typeface="Arial"/>
              </a:rPr>
              <a:t>b</a:t>
            </a:r>
            <a:r>
              <a:rPr sz="1800" dirty="0">
                <a:latin typeface="Arial"/>
                <a:cs typeface="Arial"/>
              </a:rPr>
              <a:t>l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var</a:t>
            </a:r>
            <a:r>
              <a:rPr sz="1800" spc="-15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ation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	x	</a:t>
            </a:r>
            <a:r>
              <a:rPr sz="1800" spc="-5" dirty="0">
                <a:latin typeface="Arial"/>
                <a:cs typeface="Arial"/>
              </a:rPr>
              <a:t>am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spc="-5" dirty="0">
                <a:latin typeface="Arial"/>
                <a:cs typeface="Arial"/>
              </a:rPr>
              <a:t>ng</a:t>
            </a:r>
            <a:r>
              <a:rPr sz="1800" dirty="0">
                <a:latin typeface="Arial"/>
                <a:cs typeface="Arial"/>
              </a:rPr>
              <a:t>	a</a:t>
            </a:r>
            <a:r>
              <a:rPr sz="1800" spc="-5" dirty="0">
                <a:latin typeface="Arial"/>
                <a:cs typeface="Arial"/>
              </a:rPr>
              <a:t>ll</a:t>
            </a:r>
            <a:r>
              <a:rPr sz="1800" dirty="0">
                <a:latin typeface="Arial"/>
                <a:cs typeface="Arial"/>
              </a:rPr>
              <a:t>	l</a:t>
            </a:r>
            <a:r>
              <a:rPr sz="1800" spc="-5" dirty="0">
                <a:latin typeface="Arial"/>
                <a:cs typeface="Arial"/>
              </a:rPr>
              <a:t>inear  combinations of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  <a:p>
            <a:pPr marL="688975" marR="80645" indent="-182880">
              <a:lnSpc>
                <a:spcPct val="100000"/>
              </a:lnSpc>
              <a:spcBef>
                <a:spcPts val="1085"/>
              </a:spcBef>
              <a:buChar char="•"/>
              <a:tabLst>
                <a:tab pos="689610" algn="l"/>
              </a:tabLst>
            </a:pP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2 </a:t>
            </a:r>
            <a:r>
              <a:rPr sz="1800" spc="-5" dirty="0">
                <a:latin typeface="Arial"/>
                <a:cs typeface="Arial"/>
              </a:rPr>
              <a:t>account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maximum possible 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remaining </a:t>
            </a:r>
            <a:r>
              <a:rPr sz="1800" dirty="0">
                <a:latin typeface="Arial"/>
                <a:cs typeface="Arial"/>
              </a:rPr>
              <a:t>variation </a:t>
            </a:r>
            <a:r>
              <a:rPr sz="1800" spc="-5" dirty="0">
                <a:latin typeface="Arial"/>
                <a:cs typeface="Arial"/>
              </a:rPr>
              <a:t>subject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being  uncorrelated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0" dirty="0">
                <a:latin typeface="Arial"/>
                <a:cs typeface="Arial"/>
              </a:rPr>
              <a:t>y1. </a:t>
            </a:r>
            <a:r>
              <a:rPr sz="1800" spc="-5" dirty="0">
                <a:latin typeface="Arial"/>
                <a:cs typeface="Arial"/>
              </a:rPr>
              <a:t>and so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6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1817" y="1303147"/>
            <a:ext cx="8305165" cy="471678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67640" indent="-129539">
              <a:lnSpc>
                <a:spcPct val="100000"/>
              </a:lnSpc>
              <a:spcBef>
                <a:spcPts val="1180"/>
              </a:spcBef>
              <a:buChar char="•"/>
              <a:tabLst>
                <a:tab pos="167640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dimensionality reduction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technique</a:t>
            </a:r>
            <a:endParaRPr sz="1800">
              <a:latin typeface="Arial"/>
              <a:cs typeface="Arial"/>
            </a:endParaRPr>
          </a:p>
          <a:p>
            <a:pPr marL="217804" marR="89535" indent="-18034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81305" algn="l"/>
                <a:tab pos="281940" algn="l"/>
                <a:tab pos="1007110" algn="l"/>
                <a:tab pos="1925955" algn="l"/>
                <a:tab pos="2259965" algn="l"/>
                <a:tab pos="3416935" algn="l"/>
                <a:tab pos="4472940" algn="l"/>
                <a:tab pos="4983480" algn="l"/>
                <a:tab pos="5379720" algn="l"/>
                <a:tab pos="6348095" algn="l"/>
                <a:tab pos="6681470" algn="l"/>
                <a:tab pos="6951345" algn="l"/>
              </a:tabLst>
            </a:pPr>
            <a:r>
              <a:rPr dirty="0"/>
              <a:t>	</a:t>
            </a:r>
            <a:r>
              <a:rPr sz="1800" spc="-5" dirty="0">
                <a:latin typeface="Arial"/>
                <a:cs typeface="Arial"/>
              </a:rPr>
              <a:t>Large	number	of	correlated	variables	can	be	reduced	</a:t>
            </a:r>
            <a:r>
              <a:rPr sz="1800" dirty="0">
                <a:latin typeface="Arial"/>
                <a:cs typeface="Arial"/>
              </a:rPr>
              <a:t>to	</a:t>
            </a:r>
            <a:r>
              <a:rPr sz="1800" spc="-5" dirty="0">
                <a:latin typeface="Arial"/>
                <a:cs typeface="Arial"/>
              </a:rPr>
              <a:t>a	manageable number of  uncorrelated or independent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factors.</a:t>
            </a:r>
            <a:endParaRPr sz="1800">
              <a:latin typeface="Arial"/>
              <a:cs typeface="Arial"/>
            </a:endParaRPr>
          </a:p>
          <a:p>
            <a:pPr marL="276860" indent="-239395">
              <a:lnSpc>
                <a:spcPct val="100000"/>
              </a:lnSpc>
              <a:spcBef>
                <a:spcPts val="1080"/>
              </a:spcBef>
              <a:buChar char="•"/>
              <a:tabLst>
                <a:tab pos="276860" algn="l"/>
                <a:tab pos="27749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emphasis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is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on</a:t>
            </a:r>
            <a:r>
              <a:rPr sz="1800" spc="1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identification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1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underlying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</a:t>
            </a:r>
            <a:r>
              <a:rPr sz="1800" spc="1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that</a:t>
            </a:r>
            <a:r>
              <a:rPr sz="1800" spc="1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might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explain</a:t>
            </a:r>
            <a:endParaRPr sz="1800">
              <a:latin typeface="Arial"/>
              <a:cs typeface="Arial"/>
            </a:endParaRPr>
          </a:p>
          <a:p>
            <a:pPr marL="217804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dimensions </a:t>
            </a:r>
            <a:r>
              <a:rPr sz="1800" spc="-5" dirty="0">
                <a:latin typeface="Arial"/>
                <a:cs typeface="Arial"/>
              </a:rPr>
              <a:t>associated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large data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"/>
              <a:cs typeface="Arial"/>
            </a:endParaRPr>
          </a:p>
          <a:p>
            <a:pPr marL="897255">
              <a:lnSpc>
                <a:spcPct val="100000"/>
              </a:lnSpc>
              <a:tabLst>
                <a:tab pos="1250315" algn="l"/>
              </a:tabLst>
            </a:pPr>
            <a:r>
              <a:rPr sz="2500" i="1" spc="15" dirty="0">
                <a:latin typeface="Times New Roman"/>
                <a:cs typeface="Times New Roman"/>
              </a:rPr>
              <a:t>y</a:t>
            </a:r>
            <a:r>
              <a:rPr sz="2175" i="1" spc="22" baseline="-24904" dirty="0">
                <a:latin typeface="Times New Roman"/>
                <a:cs typeface="Times New Roman"/>
              </a:rPr>
              <a:t>i	</a:t>
            </a:r>
            <a:r>
              <a:rPr sz="2500" spc="75" dirty="0">
                <a:latin typeface="Symbol"/>
                <a:cs typeface="Symbol"/>
              </a:rPr>
              <a:t>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i="1" spc="10" dirty="0">
                <a:latin typeface="Times New Roman"/>
                <a:cs typeface="Times New Roman"/>
              </a:rPr>
              <a:t>a</a:t>
            </a:r>
            <a:r>
              <a:rPr sz="2175" i="1" spc="15" baseline="-24904" dirty="0">
                <a:latin typeface="Times New Roman"/>
                <a:cs typeface="Times New Roman"/>
              </a:rPr>
              <a:t>i</a:t>
            </a:r>
            <a:r>
              <a:rPr sz="2175" spc="15" baseline="-24904" dirty="0">
                <a:latin typeface="Times New Roman"/>
                <a:cs typeface="Times New Roman"/>
              </a:rPr>
              <a:t>1</a:t>
            </a:r>
            <a:r>
              <a:rPr sz="2500" i="1" spc="10" dirty="0">
                <a:latin typeface="Times New Roman"/>
                <a:cs typeface="Times New Roman"/>
              </a:rPr>
              <a:t>x</a:t>
            </a:r>
            <a:r>
              <a:rPr sz="2175" spc="15" baseline="-24904" dirty="0">
                <a:latin typeface="Times New Roman"/>
                <a:cs typeface="Times New Roman"/>
              </a:rPr>
              <a:t>1</a:t>
            </a:r>
            <a:r>
              <a:rPr sz="2175" spc="254" baseline="-24904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Symbol"/>
                <a:cs typeface="Symbol"/>
              </a:rPr>
              <a:t>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i="1" spc="5" dirty="0">
                <a:latin typeface="Times New Roman"/>
                <a:cs typeface="Times New Roman"/>
              </a:rPr>
              <a:t>a</a:t>
            </a:r>
            <a:r>
              <a:rPr sz="2175" i="1" spc="7" baseline="-24904" dirty="0">
                <a:latin typeface="Times New Roman"/>
                <a:cs typeface="Times New Roman"/>
              </a:rPr>
              <a:t>i</a:t>
            </a:r>
            <a:r>
              <a:rPr sz="2175" i="1" spc="-352" baseline="-24904" dirty="0">
                <a:latin typeface="Times New Roman"/>
                <a:cs typeface="Times New Roman"/>
              </a:rPr>
              <a:t> </a:t>
            </a:r>
            <a:r>
              <a:rPr sz="2175" spc="67" baseline="-24904" dirty="0">
                <a:latin typeface="Times New Roman"/>
                <a:cs typeface="Times New Roman"/>
              </a:rPr>
              <a:t>2</a:t>
            </a:r>
            <a:r>
              <a:rPr sz="2175" spc="-262" baseline="-24904" dirty="0">
                <a:latin typeface="Times New Roman"/>
                <a:cs typeface="Times New Roman"/>
              </a:rPr>
              <a:t> </a:t>
            </a:r>
            <a:r>
              <a:rPr sz="2500" i="1" spc="25" dirty="0">
                <a:latin typeface="Times New Roman"/>
                <a:cs typeface="Times New Roman"/>
              </a:rPr>
              <a:t>x</a:t>
            </a:r>
            <a:r>
              <a:rPr sz="2175" spc="37" baseline="-24904" dirty="0">
                <a:latin typeface="Times New Roman"/>
                <a:cs typeface="Times New Roman"/>
              </a:rPr>
              <a:t>2</a:t>
            </a:r>
            <a:r>
              <a:rPr sz="2175" spc="419" baseline="-24904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Symbol"/>
                <a:cs typeface="Symbol"/>
              </a:rPr>
              <a:t>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i="1" spc="60" dirty="0">
                <a:latin typeface="Times New Roman"/>
                <a:cs typeface="Times New Roman"/>
              </a:rPr>
              <a:t>a</a:t>
            </a:r>
            <a:r>
              <a:rPr sz="2175" i="1" spc="89" baseline="-24904" dirty="0">
                <a:latin typeface="Times New Roman"/>
                <a:cs typeface="Times New Roman"/>
              </a:rPr>
              <a:t>i</a:t>
            </a:r>
            <a:r>
              <a:rPr sz="2175" spc="89" baseline="-24904" dirty="0">
                <a:latin typeface="Times New Roman"/>
                <a:cs typeface="Times New Roman"/>
              </a:rPr>
              <a:t>3</a:t>
            </a:r>
            <a:r>
              <a:rPr sz="2500" i="1" spc="60" dirty="0">
                <a:latin typeface="Times New Roman"/>
                <a:cs typeface="Times New Roman"/>
              </a:rPr>
              <a:t>x</a:t>
            </a:r>
            <a:r>
              <a:rPr sz="2175" spc="89" baseline="-24904" dirty="0">
                <a:latin typeface="Times New Roman"/>
                <a:cs typeface="Times New Roman"/>
              </a:rPr>
              <a:t>3</a:t>
            </a:r>
            <a:r>
              <a:rPr sz="2175" spc="315" baseline="-24904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Symbol"/>
                <a:cs typeface="Symbol"/>
              </a:rPr>
              <a:t></a:t>
            </a:r>
            <a:r>
              <a:rPr sz="2500" spc="-180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Symbol"/>
                <a:cs typeface="Symbol"/>
              </a:rPr>
              <a:t>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Symbol"/>
                <a:cs typeface="Symbol"/>
              </a:rPr>
              <a:t>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Symbol"/>
                <a:cs typeface="Symbol"/>
              </a:rPr>
              <a:t>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spc="75" dirty="0">
                <a:latin typeface="Symbol"/>
                <a:cs typeface="Symbol"/>
              </a:rPr>
              <a:t>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i="1" spc="10" dirty="0">
                <a:latin typeface="Times New Roman"/>
                <a:cs typeface="Times New Roman"/>
              </a:rPr>
              <a:t>a</a:t>
            </a:r>
            <a:r>
              <a:rPr sz="2175" i="1" spc="15" baseline="-24904" dirty="0">
                <a:latin typeface="Times New Roman"/>
                <a:cs typeface="Times New Roman"/>
              </a:rPr>
              <a:t>iq</a:t>
            </a:r>
            <a:r>
              <a:rPr sz="2175" i="1" spc="-254" baseline="-24904" dirty="0">
                <a:latin typeface="Times New Roman"/>
                <a:cs typeface="Times New Roman"/>
              </a:rPr>
              <a:t> </a:t>
            </a:r>
            <a:r>
              <a:rPr sz="2500" i="1" spc="35" dirty="0">
                <a:latin typeface="Times New Roman"/>
                <a:cs typeface="Times New Roman"/>
              </a:rPr>
              <a:t>x</a:t>
            </a:r>
            <a:r>
              <a:rPr sz="2175" i="1" spc="52" baseline="-24904" dirty="0">
                <a:latin typeface="Times New Roman"/>
                <a:cs typeface="Times New Roman"/>
              </a:rPr>
              <a:t>q</a:t>
            </a:r>
            <a:endParaRPr sz="2175" baseline="-24904">
              <a:latin typeface="Times New Roman"/>
              <a:cs typeface="Times New Roman"/>
            </a:endParaRPr>
          </a:p>
          <a:p>
            <a:pPr marL="109220" marR="161290">
              <a:lnSpc>
                <a:spcPct val="100000"/>
              </a:lnSpc>
              <a:spcBef>
                <a:spcPts val="1830"/>
              </a:spcBef>
            </a:pPr>
            <a:r>
              <a:rPr sz="1800" spc="-5" dirty="0">
                <a:latin typeface="Arial"/>
                <a:cs typeface="Arial"/>
              </a:rPr>
              <a:t>Where </a:t>
            </a:r>
            <a:r>
              <a:rPr sz="1800" spc="-10" dirty="0">
                <a:latin typeface="Arial"/>
                <a:cs typeface="Arial"/>
              </a:rPr>
              <a:t>y</a:t>
            </a:r>
            <a:r>
              <a:rPr sz="1800" spc="-15" baseline="-20833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estimate of </a:t>
            </a:r>
            <a:r>
              <a:rPr sz="1800" spc="-10" dirty="0">
                <a:latin typeface="Arial"/>
                <a:cs typeface="Arial"/>
              </a:rPr>
              <a:t>i</a:t>
            </a:r>
            <a:r>
              <a:rPr sz="1800" spc="-15" baseline="25462" dirty="0">
                <a:latin typeface="Arial"/>
                <a:cs typeface="Arial"/>
              </a:rPr>
              <a:t>th </a:t>
            </a:r>
            <a:r>
              <a:rPr sz="1800" spc="-5" dirty="0">
                <a:latin typeface="Arial"/>
                <a:cs typeface="Arial"/>
              </a:rPr>
              <a:t>principal component, a</a:t>
            </a:r>
            <a:r>
              <a:rPr sz="1800" spc="-7" baseline="-20833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sz="1800" spc="-10" dirty="0">
                <a:latin typeface="Arial"/>
                <a:cs typeface="Arial"/>
              </a:rPr>
              <a:t>weight </a:t>
            </a:r>
            <a:r>
              <a:rPr sz="1800" spc="-5" dirty="0">
                <a:latin typeface="Arial"/>
                <a:cs typeface="Arial"/>
              </a:rPr>
              <a:t>or score coefficient,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:  </a:t>
            </a:r>
            <a:r>
              <a:rPr sz="1800" spc="-5" dirty="0">
                <a:latin typeface="Arial"/>
                <a:cs typeface="Arial"/>
              </a:rPr>
              <a:t>i</a:t>
            </a:r>
            <a:r>
              <a:rPr sz="1800" spc="-7" baseline="25462" dirty="0">
                <a:latin typeface="Arial"/>
                <a:cs typeface="Arial"/>
              </a:rPr>
              <a:t>th </a:t>
            </a:r>
            <a:r>
              <a:rPr sz="1800" spc="-5" dirty="0">
                <a:latin typeface="Arial"/>
                <a:cs typeface="Arial"/>
              </a:rPr>
              <a:t>variable and </a:t>
            </a:r>
            <a:r>
              <a:rPr sz="1800" dirty="0">
                <a:latin typeface="Arial"/>
                <a:cs typeface="Arial"/>
              </a:rPr>
              <a:t>k: </a:t>
            </a:r>
            <a:r>
              <a:rPr sz="1800" spc="-5" dirty="0">
                <a:latin typeface="Arial"/>
                <a:cs typeface="Arial"/>
              </a:rPr>
              <a:t>number of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coefficients are selected such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that</a:t>
            </a:r>
            <a:endParaRPr sz="1800">
              <a:latin typeface="Arial"/>
              <a:cs typeface="Arial"/>
            </a:endParaRPr>
          </a:p>
          <a:p>
            <a:pPr marL="396875" lvl="1" indent="-144145">
              <a:lnSpc>
                <a:spcPct val="100000"/>
              </a:lnSpc>
              <a:buChar char="•"/>
              <a:tabLst>
                <a:tab pos="39751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first principal </a:t>
            </a:r>
            <a:r>
              <a:rPr sz="1800" spc="-10" dirty="0">
                <a:latin typeface="Arial"/>
                <a:cs typeface="Arial"/>
              </a:rPr>
              <a:t>component explains </a:t>
            </a:r>
            <a:r>
              <a:rPr sz="1800" spc="-5" dirty="0">
                <a:latin typeface="Arial"/>
                <a:cs typeface="Arial"/>
              </a:rPr>
              <a:t>largest portion 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total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variation</a:t>
            </a:r>
            <a:endParaRPr sz="1800">
              <a:latin typeface="Arial"/>
              <a:cs typeface="Arial"/>
            </a:endParaRPr>
          </a:p>
          <a:p>
            <a:pPr marL="253365" marR="17780" lvl="1">
              <a:lnSpc>
                <a:spcPct val="100000"/>
              </a:lnSpc>
              <a:spcBef>
                <a:spcPts val="5"/>
              </a:spcBef>
              <a:buChar char="•"/>
              <a:tabLst>
                <a:tab pos="39751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second </a:t>
            </a:r>
            <a:r>
              <a:rPr sz="1800" dirty="0">
                <a:latin typeface="Arial"/>
                <a:cs typeface="Arial"/>
              </a:rPr>
              <a:t>first </a:t>
            </a:r>
            <a:r>
              <a:rPr sz="1800" spc="-5" dirty="0">
                <a:latin typeface="Arial"/>
                <a:cs typeface="Arial"/>
              </a:rPr>
              <a:t>principal </a:t>
            </a:r>
            <a:r>
              <a:rPr sz="1800" dirty="0">
                <a:latin typeface="Arial"/>
                <a:cs typeface="Arial"/>
              </a:rPr>
              <a:t>component </a:t>
            </a:r>
            <a:r>
              <a:rPr sz="1800" spc="-5" dirty="0">
                <a:latin typeface="Arial"/>
                <a:cs typeface="Arial"/>
              </a:rPr>
              <a:t>accounts </a:t>
            </a:r>
            <a:r>
              <a:rPr sz="1800" dirty="0">
                <a:latin typeface="Arial"/>
                <a:cs typeface="Arial"/>
              </a:rPr>
              <a:t>for the most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residual  variance,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718769"/>
            <a:ext cx="4184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b="1" spc="4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7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8663940" cy="420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660400" marR="7620" indent="-180340">
              <a:lnSpc>
                <a:spcPct val="100000"/>
              </a:lnSpc>
              <a:spcBef>
                <a:spcPts val="1220"/>
              </a:spcBef>
              <a:buChar char="•"/>
              <a:tabLst>
                <a:tab pos="661035" algn="l"/>
                <a:tab pos="6532245" algn="l"/>
              </a:tabLst>
            </a:pPr>
            <a:r>
              <a:rPr sz="1800" spc="-5" dirty="0">
                <a:latin typeface="Arial"/>
                <a:cs typeface="Arial"/>
              </a:rPr>
              <a:t>Helps 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understand 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variability  in  large 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data 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sets	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inter correlated  variables using a smaller number of uncorrelated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factors.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Explaining variability of a </a:t>
            </a:r>
            <a:r>
              <a:rPr sz="1800" dirty="0">
                <a:latin typeface="Arial"/>
                <a:cs typeface="Arial"/>
              </a:rPr>
              <a:t>set </a:t>
            </a:r>
            <a:r>
              <a:rPr sz="1800" spc="-5" dirty="0">
                <a:latin typeface="Arial"/>
                <a:cs typeface="Arial"/>
              </a:rPr>
              <a:t>of n variables using </a:t>
            </a:r>
            <a:r>
              <a:rPr sz="1800" i="1" dirty="0">
                <a:latin typeface="Arial"/>
                <a:cs typeface="Arial"/>
              </a:rPr>
              <a:t>m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15" dirty="0">
                <a:latin typeface="Arial"/>
                <a:cs typeface="Arial"/>
              </a:rPr>
              <a:t>where </a:t>
            </a:r>
            <a:r>
              <a:rPr sz="1800" i="1" dirty="0">
                <a:latin typeface="Arial"/>
                <a:cs typeface="Arial"/>
              </a:rPr>
              <a:t>m &lt;</a:t>
            </a:r>
            <a:r>
              <a:rPr sz="1800" i="1" spc="16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emphasis is on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identification of underlying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5" dirty="0">
                <a:latin typeface="Arial"/>
                <a:cs typeface="Arial"/>
              </a:rPr>
              <a:t>that might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explain</a:t>
            </a:r>
            <a:endParaRPr sz="1800">
              <a:latin typeface="Arial"/>
              <a:cs typeface="Arial"/>
            </a:endParaRPr>
          </a:p>
          <a:p>
            <a:pPr marL="6604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dimensions </a:t>
            </a:r>
            <a:r>
              <a:rPr sz="1800" spc="-5" dirty="0">
                <a:latin typeface="Arial"/>
                <a:cs typeface="Arial"/>
              </a:rPr>
              <a:t>associated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large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623570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solidFill>
                  <a:srgbClr val="003399"/>
                </a:solidFill>
                <a:latin typeface="Arial"/>
                <a:cs typeface="Arial"/>
              </a:rPr>
              <a:t>Objectives</a:t>
            </a:r>
            <a:endParaRPr sz="1800">
              <a:latin typeface="Arial"/>
              <a:cs typeface="Arial"/>
            </a:endParaRPr>
          </a:p>
          <a:p>
            <a:pPr marL="803910" marR="5080" lvl="1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804545" algn="l"/>
              </a:tabLst>
            </a:pPr>
            <a:r>
              <a:rPr sz="1800" spc="-5" dirty="0">
                <a:latin typeface="Arial"/>
                <a:cs typeface="Arial"/>
              </a:rPr>
              <a:t>Reduces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complexity of a large </a:t>
            </a:r>
            <a:r>
              <a:rPr sz="1800" dirty="0">
                <a:latin typeface="Arial"/>
                <a:cs typeface="Arial"/>
              </a:rPr>
              <a:t>set </a:t>
            </a:r>
            <a:r>
              <a:rPr sz="1800" spc="-5" dirty="0">
                <a:latin typeface="Arial"/>
                <a:cs typeface="Arial"/>
              </a:rPr>
              <a:t>of variables </a:t>
            </a:r>
            <a:r>
              <a:rPr sz="1800" dirty="0">
                <a:latin typeface="Arial"/>
                <a:cs typeface="Arial"/>
              </a:rPr>
              <a:t>by </a:t>
            </a:r>
            <a:r>
              <a:rPr sz="1800" spc="-5" dirty="0">
                <a:latin typeface="Arial"/>
                <a:cs typeface="Arial"/>
              </a:rPr>
              <a:t>summarizing them in a  smaller </a:t>
            </a:r>
            <a:r>
              <a:rPr sz="1800" dirty="0">
                <a:latin typeface="Arial"/>
                <a:cs typeface="Arial"/>
              </a:rPr>
              <a:t>set </a:t>
            </a:r>
            <a:r>
              <a:rPr sz="1800" spc="-5" dirty="0">
                <a:latin typeface="Arial"/>
                <a:cs typeface="Arial"/>
              </a:rPr>
              <a:t>of components or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  <a:p>
            <a:pPr marL="862965" lvl="1" indent="-240029">
              <a:lnSpc>
                <a:spcPct val="100000"/>
              </a:lnSpc>
              <a:spcBef>
                <a:spcPts val="1080"/>
              </a:spcBef>
              <a:buChar char="•"/>
              <a:tabLst>
                <a:tab pos="862965" algn="l"/>
                <a:tab pos="863600" algn="l"/>
              </a:tabLst>
            </a:pPr>
            <a:r>
              <a:rPr sz="1800" spc="-15" dirty="0">
                <a:latin typeface="Arial"/>
                <a:cs typeface="Arial"/>
              </a:rPr>
              <a:t>Tries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improve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interpretation of complex data through logical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8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1142" y="1176019"/>
            <a:ext cx="8543925" cy="524319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Computation of sample Principal</a:t>
            </a:r>
            <a:r>
              <a:rPr sz="1800" spc="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Components</a:t>
            </a:r>
            <a:endParaRPr sz="1800" dirty="0">
              <a:latin typeface="Arial"/>
              <a:cs typeface="Arial"/>
            </a:endParaRPr>
          </a:p>
          <a:p>
            <a:pPr marL="255904" marR="433070" indent="-180340" algn="just">
              <a:lnSpc>
                <a:spcPct val="100000"/>
              </a:lnSpc>
              <a:spcBef>
                <a:spcPts val="1080"/>
              </a:spcBef>
              <a:buChar char="•"/>
              <a:tabLst>
                <a:tab pos="256540" algn="l"/>
              </a:tabLst>
            </a:pPr>
            <a:r>
              <a:rPr sz="1800" dirty="0">
                <a:latin typeface="Arial"/>
                <a:cs typeface="Arial"/>
              </a:rPr>
              <a:t>The first </a:t>
            </a:r>
            <a:r>
              <a:rPr sz="1800" spc="-5" dirty="0">
                <a:latin typeface="Arial"/>
                <a:cs typeface="Arial"/>
              </a:rPr>
              <a:t>principal component is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5" dirty="0">
                <a:latin typeface="Arial"/>
                <a:cs typeface="Arial"/>
              </a:rPr>
              <a:t>linear combination of original </a:t>
            </a:r>
            <a:r>
              <a:rPr sz="1800" dirty="0">
                <a:latin typeface="Arial"/>
                <a:cs typeface="Arial"/>
              </a:rPr>
              <a:t>variables  </a:t>
            </a:r>
            <a:r>
              <a:rPr sz="1800" spc="-5" dirty="0">
                <a:latin typeface="Arial"/>
                <a:cs typeface="Arial"/>
              </a:rPr>
              <a:t>whose </a:t>
            </a:r>
            <a:r>
              <a:rPr sz="1800" dirty="0">
                <a:latin typeface="Arial"/>
                <a:cs typeface="Arial"/>
              </a:rPr>
              <a:t>sample </a:t>
            </a:r>
            <a:r>
              <a:rPr sz="1800" spc="-5" dirty="0">
                <a:latin typeface="Arial"/>
                <a:cs typeface="Arial"/>
              </a:rPr>
              <a:t>variance is greatest amongst all possible such linear  combinations</a:t>
            </a:r>
            <a:endParaRPr sz="1800" dirty="0">
              <a:latin typeface="Arial"/>
              <a:cs typeface="Arial"/>
            </a:endParaRPr>
          </a:p>
          <a:p>
            <a:pPr marL="255904" marR="433070" indent="-180340" algn="just">
              <a:lnSpc>
                <a:spcPct val="100000"/>
              </a:lnSpc>
              <a:spcBef>
                <a:spcPts val="1080"/>
              </a:spcBef>
              <a:buChar char="•"/>
              <a:tabLst>
                <a:tab pos="25654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second principal component is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linear combination of original   variables that account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maximum proportion of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remaining variance  subject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being uncorrelated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first </a:t>
            </a:r>
            <a:r>
              <a:rPr sz="1800" spc="-5" dirty="0">
                <a:latin typeface="Arial"/>
                <a:cs typeface="Arial"/>
              </a:rPr>
              <a:t>principal component and so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on</a:t>
            </a:r>
            <a:endParaRPr sz="1800" dirty="0">
              <a:latin typeface="Arial"/>
              <a:cs typeface="Arial"/>
            </a:endParaRPr>
          </a:p>
          <a:p>
            <a:pPr marL="255904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256540" algn="l"/>
              </a:tabLst>
            </a:pPr>
            <a:r>
              <a:rPr sz="1800" dirty="0">
                <a:latin typeface="Arial"/>
                <a:cs typeface="Arial"/>
              </a:rPr>
              <a:t>The first </a:t>
            </a:r>
            <a:r>
              <a:rPr sz="1800" spc="-5" dirty="0">
                <a:latin typeface="Arial"/>
                <a:cs typeface="Arial"/>
              </a:rPr>
              <a:t>principal component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is</a:t>
            </a:r>
            <a:endParaRPr sz="1800" dirty="0">
              <a:latin typeface="Arial"/>
              <a:cs typeface="Arial"/>
            </a:endParaRPr>
          </a:p>
          <a:p>
            <a:pPr marL="1137920">
              <a:lnSpc>
                <a:spcPct val="100000"/>
              </a:lnSpc>
              <a:spcBef>
                <a:spcPts val="1130"/>
              </a:spcBef>
            </a:pPr>
            <a:r>
              <a:rPr sz="2500" i="1" spc="-25" dirty="0">
                <a:latin typeface="Times New Roman"/>
                <a:cs typeface="Times New Roman"/>
              </a:rPr>
              <a:t>y</a:t>
            </a:r>
            <a:r>
              <a:rPr sz="2175" spc="-37" baseline="-24904" dirty="0">
                <a:latin typeface="Times New Roman"/>
                <a:cs typeface="Times New Roman"/>
              </a:rPr>
              <a:t>1</a:t>
            </a:r>
            <a:r>
              <a:rPr sz="2175" spc="465" baseline="-249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</a:t>
            </a:r>
            <a:r>
              <a:rPr sz="2500" spc="-95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a</a:t>
            </a:r>
            <a:r>
              <a:rPr sz="2175" spc="-15" baseline="-24904" dirty="0">
                <a:latin typeface="Times New Roman"/>
                <a:cs typeface="Times New Roman"/>
              </a:rPr>
              <a:t>11</a:t>
            </a:r>
            <a:r>
              <a:rPr sz="2500" i="1" spc="-10" dirty="0">
                <a:latin typeface="Times New Roman"/>
                <a:cs typeface="Times New Roman"/>
              </a:rPr>
              <a:t>x</a:t>
            </a:r>
            <a:r>
              <a:rPr sz="2175" spc="-15" baseline="-24904" dirty="0">
                <a:latin typeface="Times New Roman"/>
                <a:cs typeface="Times New Roman"/>
              </a:rPr>
              <a:t>1</a:t>
            </a:r>
            <a:r>
              <a:rPr sz="2175" spc="262" baseline="-249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i="1" spc="35" dirty="0">
                <a:latin typeface="Times New Roman"/>
                <a:cs typeface="Times New Roman"/>
              </a:rPr>
              <a:t>a</a:t>
            </a:r>
            <a:r>
              <a:rPr sz="2175" spc="52" baseline="-24904" dirty="0">
                <a:latin typeface="Times New Roman"/>
                <a:cs typeface="Times New Roman"/>
              </a:rPr>
              <a:t>12</a:t>
            </a:r>
            <a:r>
              <a:rPr sz="2500" i="1" spc="35" dirty="0">
                <a:latin typeface="Times New Roman"/>
                <a:cs typeface="Times New Roman"/>
              </a:rPr>
              <a:t>x</a:t>
            </a:r>
            <a:r>
              <a:rPr sz="2175" spc="52" baseline="-24904" dirty="0">
                <a:latin typeface="Times New Roman"/>
                <a:cs typeface="Times New Roman"/>
              </a:rPr>
              <a:t>2</a:t>
            </a:r>
            <a:r>
              <a:rPr sz="2175" spc="434" baseline="-249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i="1" spc="20" dirty="0">
                <a:latin typeface="Times New Roman"/>
                <a:cs typeface="Times New Roman"/>
              </a:rPr>
              <a:t>a</a:t>
            </a:r>
            <a:r>
              <a:rPr sz="2175" spc="30" baseline="-24904" dirty="0">
                <a:latin typeface="Times New Roman"/>
                <a:cs typeface="Times New Roman"/>
              </a:rPr>
              <a:t>13</a:t>
            </a:r>
            <a:r>
              <a:rPr sz="2500" i="1" spc="20" dirty="0">
                <a:latin typeface="Times New Roman"/>
                <a:cs typeface="Times New Roman"/>
              </a:rPr>
              <a:t>x</a:t>
            </a:r>
            <a:r>
              <a:rPr sz="2175" spc="30" baseline="-24904" dirty="0">
                <a:latin typeface="Times New Roman"/>
                <a:cs typeface="Times New Roman"/>
              </a:rPr>
              <a:t>3</a:t>
            </a:r>
            <a:r>
              <a:rPr sz="2175" spc="330" baseline="-249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170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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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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i="1" spc="-15" dirty="0">
                <a:latin typeface="Times New Roman"/>
                <a:cs typeface="Times New Roman"/>
              </a:rPr>
              <a:t>a</a:t>
            </a:r>
            <a:r>
              <a:rPr sz="2175" spc="-22" baseline="-24904" dirty="0">
                <a:latin typeface="Times New Roman"/>
                <a:cs typeface="Times New Roman"/>
              </a:rPr>
              <a:t>1</a:t>
            </a:r>
            <a:r>
              <a:rPr sz="2175" i="1" spc="-22" baseline="-24904" dirty="0">
                <a:latin typeface="Times New Roman"/>
                <a:cs typeface="Times New Roman"/>
              </a:rPr>
              <a:t>q</a:t>
            </a:r>
            <a:r>
              <a:rPr sz="2175" i="1" spc="-232" baseline="-24904" dirty="0">
                <a:latin typeface="Times New Roman"/>
                <a:cs typeface="Times New Roman"/>
              </a:rPr>
              <a:t> </a:t>
            </a:r>
            <a:r>
              <a:rPr sz="2500" i="1" spc="35" dirty="0">
                <a:latin typeface="Times New Roman"/>
                <a:cs typeface="Times New Roman"/>
              </a:rPr>
              <a:t>x</a:t>
            </a:r>
            <a:r>
              <a:rPr sz="2175" i="1" spc="52" baseline="-24904" dirty="0">
                <a:latin typeface="Times New Roman"/>
                <a:cs typeface="Times New Roman"/>
              </a:rPr>
              <a:t>q</a:t>
            </a:r>
            <a:endParaRPr sz="2175" baseline="-24904" dirty="0">
              <a:latin typeface="Times New Roman"/>
              <a:cs typeface="Times New Roman"/>
            </a:endParaRPr>
          </a:p>
          <a:p>
            <a:pPr marL="290195" marR="69850">
              <a:lnSpc>
                <a:spcPct val="100000"/>
              </a:lnSpc>
              <a:spcBef>
                <a:spcPts val="1789"/>
              </a:spcBef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variance of 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1 </a:t>
            </a:r>
            <a:r>
              <a:rPr sz="1800" spc="-5" dirty="0">
                <a:latin typeface="Arial"/>
                <a:cs typeface="Arial"/>
              </a:rPr>
              <a:t>be increased </a:t>
            </a:r>
            <a:r>
              <a:rPr sz="1800" dirty="0">
                <a:latin typeface="Arial"/>
                <a:cs typeface="Arial"/>
              </a:rPr>
              <a:t>by </a:t>
            </a:r>
            <a:r>
              <a:rPr sz="1800" spc="-5" dirty="0">
                <a:latin typeface="Arial"/>
                <a:cs typeface="Arial"/>
              </a:rPr>
              <a:t>increasing a</a:t>
            </a:r>
            <a:r>
              <a:rPr sz="1800" spc="-7" baseline="-20833" dirty="0">
                <a:latin typeface="Arial"/>
                <a:cs typeface="Arial"/>
              </a:rPr>
              <a:t>1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20" dirty="0">
                <a:latin typeface="Arial"/>
                <a:cs typeface="Arial"/>
              </a:rPr>
              <a:t>(a</a:t>
            </a:r>
            <a:r>
              <a:rPr sz="1800" spc="-30" baseline="-20833" dirty="0">
                <a:latin typeface="Arial"/>
                <a:cs typeface="Arial"/>
              </a:rPr>
              <a:t>11</a:t>
            </a:r>
            <a:r>
              <a:rPr sz="1800" spc="-20" dirty="0">
                <a:latin typeface="Arial"/>
                <a:cs typeface="Arial"/>
              </a:rPr>
              <a:t>,- </a:t>
            </a:r>
            <a:r>
              <a:rPr sz="1800" dirty="0">
                <a:latin typeface="Arial"/>
                <a:cs typeface="Arial"/>
              </a:rPr>
              <a:t>- -, 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spc="-15" baseline="-20833" dirty="0">
                <a:latin typeface="Arial"/>
                <a:cs typeface="Arial"/>
              </a:rPr>
              <a:t>1q</a:t>
            </a:r>
            <a:r>
              <a:rPr sz="1800" spc="-10" dirty="0">
                <a:latin typeface="Arial"/>
                <a:cs typeface="Arial"/>
              </a:rPr>
              <a:t>), </a:t>
            </a:r>
            <a:r>
              <a:rPr sz="1800" spc="-5" dirty="0">
                <a:latin typeface="Arial"/>
                <a:cs typeface="Arial"/>
              </a:rPr>
              <a:t>a restriction  </a:t>
            </a:r>
            <a:r>
              <a:rPr sz="1800" dirty="0">
                <a:latin typeface="Arial"/>
                <a:cs typeface="Arial"/>
              </a:rPr>
              <a:t>must </a:t>
            </a:r>
            <a:r>
              <a:rPr sz="1800" spc="-5" dirty="0">
                <a:latin typeface="Arial"/>
                <a:cs typeface="Arial"/>
              </a:rPr>
              <a:t>be placed on these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coefficients.</a:t>
            </a:r>
            <a:endParaRPr sz="1800" dirty="0">
              <a:latin typeface="Arial"/>
              <a:cs typeface="Arial"/>
            </a:endParaRPr>
          </a:p>
          <a:p>
            <a:pPr marL="290195" marR="6858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sensible </a:t>
            </a:r>
            <a:r>
              <a:rPr sz="1800" dirty="0">
                <a:latin typeface="Arial"/>
                <a:cs typeface="Arial"/>
              </a:rPr>
              <a:t>restriction </a:t>
            </a:r>
            <a:r>
              <a:rPr sz="1800" spc="-5" dirty="0">
                <a:latin typeface="Arial"/>
                <a:cs typeface="Arial"/>
              </a:rPr>
              <a:t>or constraint is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ensure that </a:t>
            </a:r>
            <a:r>
              <a:rPr sz="1800" dirty="0">
                <a:latin typeface="Arial"/>
                <a:cs typeface="Arial"/>
              </a:rPr>
              <a:t>sum </a:t>
            </a:r>
            <a:r>
              <a:rPr sz="1800" spc="-5" dirty="0">
                <a:latin typeface="Arial"/>
                <a:cs typeface="Arial"/>
              </a:rPr>
              <a:t>of squares of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coefficients should be equal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one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Arial"/>
              <a:cs typeface="Arial"/>
            </a:endParaRPr>
          </a:p>
          <a:p>
            <a:pPr marL="1128395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’a</a:t>
            </a:r>
            <a:r>
              <a:rPr sz="1800" spc="-7" baseline="-20833" dirty="0">
                <a:latin typeface="Arial"/>
                <a:cs typeface="Arial"/>
              </a:rPr>
              <a:t>1 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718769"/>
            <a:ext cx="4184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b="1" spc="4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9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40" y="718769"/>
            <a:ext cx="8613775" cy="574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 dirty="0">
              <a:latin typeface="Arial"/>
              <a:cs typeface="Arial"/>
            </a:endParaRPr>
          </a:p>
          <a:p>
            <a:pPr marL="336550">
              <a:lnSpc>
                <a:spcPct val="100000"/>
              </a:lnSpc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Computation of sample Principal</a:t>
            </a:r>
            <a:r>
              <a:rPr sz="1800" spc="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Components</a:t>
            </a:r>
            <a:endParaRPr sz="1800" dirty="0">
              <a:latin typeface="Arial"/>
              <a:cs typeface="Arial"/>
            </a:endParaRPr>
          </a:p>
          <a:p>
            <a:pPr marL="516255" marR="243204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516890" algn="l"/>
              </a:tabLst>
            </a:pPr>
            <a:r>
              <a:rPr sz="1800" spc="-95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choose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elements of a</a:t>
            </a:r>
            <a:r>
              <a:rPr sz="1800" spc="-7" baseline="-20833" dirty="0">
                <a:latin typeface="Arial"/>
                <a:cs typeface="Arial"/>
              </a:rPr>
              <a:t>1 </a:t>
            </a:r>
            <a:r>
              <a:rPr sz="1800" spc="-10" dirty="0">
                <a:latin typeface="Arial"/>
                <a:cs typeface="Arial"/>
              </a:rPr>
              <a:t>which </a:t>
            </a:r>
            <a:r>
              <a:rPr sz="1800" spc="-5" dirty="0">
                <a:latin typeface="Arial"/>
                <a:cs typeface="Arial"/>
              </a:rPr>
              <a:t>maximizes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variance of 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1 </a:t>
            </a:r>
            <a:r>
              <a:rPr sz="1800" spc="-5" dirty="0">
                <a:latin typeface="Arial"/>
                <a:cs typeface="Arial"/>
              </a:rPr>
              <a:t>subject </a:t>
            </a:r>
            <a:r>
              <a:rPr sz="1800" dirty="0">
                <a:latin typeface="Arial"/>
                <a:cs typeface="Arial"/>
              </a:rPr>
              <a:t>to  the </a:t>
            </a:r>
            <a:r>
              <a:rPr sz="1800" spc="-5" dirty="0">
                <a:latin typeface="Arial"/>
                <a:cs typeface="Arial"/>
              </a:rPr>
              <a:t>constraint of a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’a</a:t>
            </a:r>
            <a:r>
              <a:rPr sz="1800" spc="-7" baseline="-20833" dirty="0">
                <a:latin typeface="Arial"/>
                <a:cs typeface="Arial"/>
              </a:rPr>
              <a:t>1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516255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516890" algn="l"/>
              </a:tabLst>
            </a:pPr>
            <a:r>
              <a:rPr sz="1800" spc="-5" dirty="0">
                <a:latin typeface="Arial"/>
                <a:cs typeface="Arial"/>
              </a:rPr>
              <a:t>Since 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1 </a:t>
            </a:r>
            <a:r>
              <a:rPr sz="1800" spc="-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linear combination of </a:t>
            </a:r>
            <a:r>
              <a:rPr sz="1800" spc="-10" dirty="0">
                <a:latin typeface="Arial"/>
                <a:cs typeface="Arial"/>
              </a:rPr>
              <a:t>x,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sample variance of 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1 </a:t>
            </a:r>
            <a:r>
              <a:rPr sz="1800" spc="-5" dirty="0">
                <a:latin typeface="Arial"/>
                <a:cs typeface="Arial"/>
              </a:rPr>
              <a:t>is given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by</a:t>
            </a:r>
            <a:endParaRPr sz="1800" dirty="0">
              <a:latin typeface="Arial"/>
              <a:cs typeface="Arial"/>
            </a:endParaRPr>
          </a:p>
          <a:p>
            <a:pPr marL="1250950">
              <a:lnSpc>
                <a:spcPct val="100000"/>
              </a:lnSpc>
              <a:spcBef>
                <a:spcPts val="1085"/>
              </a:spcBef>
            </a:pPr>
            <a:r>
              <a:rPr sz="1800" spc="-25" dirty="0">
                <a:solidFill>
                  <a:srgbClr val="000099"/>
                </a:solidFill>
                <a:latin typeface="Arial"/>
                <a:cs typeface="Arial"/>
              </a:rPr>
              <a:t>Var(y</a:t>
            </a:r>
            <a:r>
              <a:rPr sz="1800" spc="-37" baseline="-20833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r>
              <a:rPr sz="1800" spc="-25" dirty="0">
                <a:solidFill>
                  <a:srgbClr val="000099"/>
                </a:solidFill>
                <a:latin typeface="Arial"/>
                <a:cs typeface="Arial"/>
              </a:rPr>
              <a:t>)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=</a:t>
            </a:r>
            <a:r>
              <a:rPr sz="1800" spc="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a</a:t>
            </a:r>
            <a:r>
              <a:rPr sz="1800" spc="-7" baseline="-20833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’Sa</a:t>
            </a:r>
            <a:r>
              <a:rPr sz="1800" spc="-7" baseline="-20833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endParaRPr sz="1800" baseline="-20833" dirty="0">
              <a:latin typeface="Arial"/>
              <a:cs typeface="Arial"/>
            </a:endParaRPr>
          </a:p>
          <a:p>
            <a:pPr marL="516255">
              <a:lnSpc>
                <a:spcPct val="100000"/>
              </a:lnSpc>
              <a:spcBef>
                <a:spcPts val="1080"/>
              </a:spcBef>
            </a:pPr>
            <a:r>
              <a:rPr sz="1800" spc="-15" dirty="0">
                <a:latin typeface="Arial"/>
                <a:cs typeface="Arial"/>
              </a:rPr>
              <a:t>where </a:t>
            </a:r>
            <a:r>
              <a:rPr sz="1800" dirty="0">
                <a:latin typeface="Arial"/>
                <a:cs typeface="Arial"/>
              </a:rPr>
              <a:t>S </a:t>
            </a:r>
            <a:r>
              <a:rPr sz="1800" spc="-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sample covariance </a:t>
            </a:r>
            <a:r>
              <a:rPr sz="1800" dirty="0">
                <a:latin typeface="Arial"/>
                <a:cs typeface="Arial"/>
              </a:rPr>
              <a:t>matrix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</a:p>
          <a:p>
            <a:pPr marL="2237105" marR="897890" indent="-1829435">
              <a:lnSpc>
                <a:spcPct val="200100"/>
              </a:lnSpc>
              <a:spcBef>
                <a:spcPts val="1370"/>
              </a:spcBef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coefficients a</a:t>
            </a:r>
            <a:r>
              <a:rPr sz="1800" spc="-7" baseline="-20833" dirty="0">
                <a:latin typeface="Arial"/>
                <a:cs typeface="Arial"/>
              </a:rPr>
              <a:t>1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first </a:t>
            </a:r>
            <a:r>
              <a:rPr sz="1800" spc="-5" dirty="0">
                <a:latin typeface="Arial"/>
                <a:cs typeface="Arial"/>
              </a:rPr>
              <a:t>principal component 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1 </a:t>
            </a:r>
            <a:r>
              <a:rPr sz="1800" spc="-5" dirty="0">
                <a:latin typeface="Arial"/>
                <a:cs typeface="Arial"/>
              </a:rPr>
              <a:t>is computed by solving  Maximize</a:t>
            </a:r>
            <a:endParaRPr sz="1800" dirty="0">
              <a:latin typeface="Arial"/>
              <a:cs typeface="Arial"/>
            </a:endParaRPr>
          </a:p>
          <a:p>
            <a:pPr marL="2237105" marR="4453255" indent="9144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z =</a:t>
            </a:r>
            <a:r>
              <a:rPr sz="1800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spc="-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’Sa</a:t>
            </a:r>
            <a:r>
              <a:rPr sz="1800" spc="-7" baseline="-20833" dirty="0">
                <a:solidFill>
                  <a:srgbClr val="C00000"/>
                </a:solidFill>
                <a:latin typeface="Arial"/>
                <a:cs typeface="Arial"/>
              </a:rPr>
              <a:t>1  </a:t>
            </a:r>
            <a:r>
              <a:rPr sz="1800" spc="-5" dirty="0">
                <a:latin typeface="Arial"/>
                <a:cs typeface="Arial"/>
              </a:rPr>
              <a:t>Subject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</a:p>
          <a:p>
            <a:pPr marL="3215005">
              <a:lnSpc>
                <a:spcPct val="100000"/>
              </a:lnSpc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a</a:t>
            </a:r>
            <a:r>
              <a:rPr sz="1800" spc="-7" baseline="-20833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’a</a:t>
            </a:r>
            <a:r>
              <a:rPr sz="1800" spc="-7" baseline="-20833" dirty="0">
                <a:solidFill>
                  <a:srgbClr val="000099"/>
                </a:solidFill>
                <a:latin typeface="Arial"/>
                <a:cs typeface="Arial"/>
              </a:rPr>
              <a:t>1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=</a:t>
            </a:r>
            <a:r>
              <a:rPr sz="1800" spc="-17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Arial"/>
              <a:cs typeface="Arial"/>
            </a:endParaRPr>
          </a:p>
          <a:p>
            <a:pPr marL="193675" marR="43180">
              <a:lnSpc>
                <a:spcPct val="100000"/>
              </a:lnSpc>
              <a:tabLst>
                <a:tab pos="3773170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solution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above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problem	(using Lagrange multiplier method) is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Eigen  vector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S corresponding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largest Eigen value </a:t>
            </a:r>
            <a:r>
              <a:rPr sz="1800" dirty="0">
                <a:latin typeface="Arial"/>
                <a:cs typeface="Arial"/>
              </a:rPr>
              <a:t>of S </a:t>
            </a:r>
            <a:r>
              <a:rPr sz="1800" spc="-5" dirty="0">
                <a:latin typeface="Arial"/>
                <a:cs typeface="Arial"/>
              </a:rPr>
              <a:t>denoted by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Symbol"/>
                <a:cs typeface="Symbol"/>
              </a:rPr>
              <a:t></a:t>
            </a:r>
            <a:r>
              <a:rPr sz="1800" spc="-7" baseline="-20833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1800" baseline="-20833" dirty="0">
              <a:latin typeface="Arial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61" y="250952"/>
            <a:ext cx="8980677" cy="276999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10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242" y="1236979"/>
            <a:ext cx="6061558" cy="1000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Computation of sample Principal</a:t>
            </a:r>
            <a:r>
              <a:rPr sz="1800" spc="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general,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coefficients a</a:t>
            </a:r>
            <a:r>
              <a:rPr sz="1800" spc="-7" baseline="-20833" dirty="0">
                <a:latin typeface="Arial"/>
                <a:cs typeface="Arial"/>
              </a:rPr>
              <a:t>i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first </a:t>
            </a:r>
            <a:r>
              <a:rPr sz="1800" spc="-5" dirty="0">
                <a:latin typeface="Arial"/>
                <a:cs typeface="Arial"/>
              </a:rPr>
              <a:t>principal component </a:t>
            </a:r>
            <a:r>
              <a:rPr sz="1800" spc="-10" dirty="0">
                <a:latin typeface="Arial"/>
                <a:cs typeface="Arial"/>
              </a:rPr>
              <a:t>y</a:t>
            </a:r>
            <a:r>
              <a:rPr sz="1800" spc="-15" baseline="-20833" dirty="0">
                <a:latin typeface="Arial"/>
                <a:cs typeface="Arial"/>
              </a:rPr>
              <a:t>i  </a:t>
            </a:r>
            <a:r>
              <a:rPr sz="1800" spc="-5" dirty="0">
                <a:latin typeface="Arial"/>
                <a:cs typeface="Arial"/>
              </a:rPr>
              <a:t>solving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1658022"/>
            <a:ext cx="1654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is computed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542" y="2486914"/>
            <a:ext cx="8470900" cy="211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Maximize</a:t>
            </a:r>
            <a:endParaRPr sz="1800">
              <a:latin typeface="Arial"/>
              <a:cs typeface="Arial"/>
            </a:endParaRPr>
          </a:p>
          <a:p>
            <a:pPr marL="1879600" marR="4770755" indent="9144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z =</a:t>
            </a:r>
            <a:r>
              <a:rPr sz="180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spc="-15" baseline="-20833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spc="-10" dirty="0">
                <a:solidFill>
                  <a:srgbClr val="C00000"/>
                </a:solidFill>
                <a:latin typeface="Arial"/>
                <a:cs typeface="Arial"/>
              </a:rPr>
              <a:t>’Sa</a:t>
            </a:r>
            <a:r>
              <a:rPr sz="1800" spc="-15" baseline="-20833" dirty="0">
                <a:solidFill>
                  <a:srgbClr val="C00000"/>
                </a:solidFill>
                <a:latin typeface="Arial"/>
                <a:cs typeface="Arial"/>
              </a:rPr>
              <a:t>i  </a:t>
            </a:r>
            <a:r>
              <a:rPr sz="1800" spc="-5" dirty="0">
                <a:latin typeface="Arial"/>
                <a:cs typeface="Arial"/>
              </a:rPr>
              <a:t>Subject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2794000">
              <a:lnSpc>
                <a:spcPct val="100000"/>
              </a:lnSpc>
            </a:pP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a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i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’a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i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=</a:t>
            </a:r>
            <a:r>
              <a:rPr sz="1800" spc="-15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>
              <a:latin typeface="Arial"/>
              <a:cs typeface="Arial"/>
            </a:endParaRPr>
          </a:p>
          <a:p>
            <a:pPr marL="50800" marR="43180">
              <a:lnSpc>
                <a:spcPct val="100000"/>
              </a:lnSpc>
              <a:tabLst>
                <a:tab pos="3630295" algn="l"/>
              </a:tabLst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solution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above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problem	(using Lagrange multiplier method) is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Eigen  vector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S corresponding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i</a:t>
            </a:r>
            <a:r>
              <a:rPr sz="1800" spc="-7" baseline="25462" dirty="0">
                <a:solidFill>
                  <a:srgbClr val="000099"/>
                </a:solidFill>
                <a:latin typeface="Arial"/>
                <a:cs typeface="Arial"/>
              </a:rPr>
              <a:t>th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largest Eigen value </a:t>
            </a:r>
            <a:r>
              <a:rPr sz="1800" dirty="0">
                <a:latin typeface="Arial"/>
                <a:cs typeface="Arial"/>
              </a:rPr>
              <a:t>of S </a:t>
            </a:r>
            <a:r>
              <a:rPr sz="1800" spc="-5" dirty="0">
                <a:latin typeface="Arial"/>
                <a:cs typeface="Arial"/>
              </a:rPr>
              <a:t>denoted by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Symbol"/>
                <a:cs typeface="Symbol"/>
              </a:rPr>
              <a:t></a:t>
            </a:r>
            <a:r>
              <a:rPr sz="1800" spc="-7" baseline="-20833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242" y="5242941"/>
            <a:ext cx="6629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Since 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spc="-15" baseline="-20833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’a</a:t>
            </a:r>
            <a:r>
              <a:rPr sz="1800" spc="-15" baseline="-20833" dirty="0">
                <a:latin typeface="Arial"/>
                <a:cs typeface="Arial"/>
              </a:rPr>
              <a:t>i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1,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variance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i</a:t>
            </a:r>
            <a:r>
              <a:rPr sz="1800" spc="-7" baseline="25462" dirty="0">
                <a:latin typeface="Arial"/>
                <a:cs typeface="Arial"/>
              </a:rPr>
              <a:t>th </a:t>
            </a:r>
            <a:r>
              <a:rPr sz="1800" spc="-5" dirty="0">
                <a:latin typeface="Arial"/>
                <a:cs typeface="Arial"/>
              </a:rPr>
              <a:t>principal component 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22" baseline="-20833" dirty="0">
                <a:latin typeface="Arial"/>
                <a:cs typeface="Arial"/>
              </a:rPr>
              <a:t>1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be</a:t>
            </a:r>
            <a:r>
              <a:rPr sz="1800" spc="-260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Symbol"/>
                <a:cs typeface="Symbol"/>
              </a:rPr>
              <a:t></a:t>
            </a:r>
            <a:r>
              <a:rPr sz="1800" spc="-7" baseline="-20833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718769"/>
            <a:ext cx="4184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1661" y="250952"/>
            <a:ext cx="8980677" cy="276999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11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6847205" cy="2739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1780"/>
              </a:spcBef>
            </a:pPr>
            <a:r>
              <a:rPr sz="1800" spc="-5" dirty="0">
                <a:solidFill>
                  <a:srgbClr val="003399"/>
                </a:solidFill>
                <a:latin typeface="Arial"/>
                <a:cs typeface="Arial"/>
              </a:rPr>
              <a:t>Steps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Prepare correlation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Extract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set of principal components using correlation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5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number of principal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Interpret results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12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8377555" cy="49167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Arial"/>
              <a:cs typeface="Arial"/>
            </a:endParaRPr>
          </a:p>
          <a:p>
            <a:pPr marL="191770" marR="5080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r>
              <a:rPr sz="1800" spc="-5" dirty="0">
                <a:latin typeface="Arial"/>
                <a:cs typeface="Arial"/>
              </a:rPr>
              <a:t>: Suppose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researcher </a:t>
            </a:r>
            <a:r>
              <a:rPr sz="1800" spc="-10" dirty="0">
                <a:latin typeface="Arial"/>
                <a:cs typeface="Arial"/>
              </a:rPr>
              <a:t>wants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underlying benefits  consumers seek </a:t>
            </a:r>
            <a:r>
              <a:rPr sz="1800" dirty="0">
                <a:latin typeface="Arial"/>
                <a:cs typeface="Arial"/>
              </a:rPr>
              <a:t>from the </a:t>
            </a:r>
            <a:r>
              <a:rPr sz="1800" spc="-5" dirty="0">
                <a:latin typeface="Arial"/>
                <a:cs typeface="Arial"/>
              </a:rPr>
              <a:t>purchase of a toothpaste.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sample of 30 respondents  </a:t>
            </a:r>
            <a:r>
              <a:rPr sz="1800" spc="-10" dirty="0">
                <a:latin typeface="Arial"/>
                <a:cs typeface="Arial"/>
              </a:rPr>
              <a:t>was </a:t>
            </a:r>
            <a:r>
              <a:rPr sz="1800" spc="-5" dirty="0">
                <a:latin typeface="Arial"/>
                <a:cs typeface="Arial"/>
              </a:rPr>
              <a:t>interviewed.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respondents </a:t>
            </a:r>
            <a:r>
              <a:rPr sz="1800" spc="-10" dirty="0">
                <a:latin typeface="Arial"/>
                <a:cs typeface="Arial"/>
              </a:rPr>
              <a:t>were </a:t>
            </a:r>
            <a:r>
              <a:rPr sz="1800" spc="-5" dirty="0">
                <a:latin typeface="Arial"/>
                <a:cs typeface="Arial"/>
              </a:rPr>
              <a:t>asked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indicate their degree </a:t>
            </a:r>
            <a:r>
              <a:rPr sz="1800" spc="5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agreement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following statements using a 7 </a:t>
            </a:r>
            <a:r>
              <a:rPr sz="1800" dirty="0">
                <a:latin typeface="Arial"/>
                <a:cs typeface="Arial"/>
              </a:rPr>
              <a:t>point </a:t>
            </a:r>
            <a:r>
              <a:rPr sz="1800" spc="-5" dirty="0">
                <a:latin typeface="Arial"/>
                <a:cs typeface="Arial"/>
              </a:rPr>
              <a:t>scale (1: strongly  disagree, 7: strongly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agree)</a:t>
            </a:r>
            <a:r>
              <a:rPr lang="en-IN" sz="1800" spc="-5" dirty="0"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important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0" dirty="0">
                <a:latin typeface="Arial"/>
                <a:cs typeface="Arial"/>
              </a:rPr>
              <a:t>buy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toothpaste that prevents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cavities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I </a:t>
            </a:r>
            <a:r>
              <a:rPr sz="1800" spc="-5" dirty="0">
                <a:latin typeface="Arial"/>
                <a:cs typeface="Arial"/>
              </a:rPr>
              <a:t>like a toothpaste that gives shiny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teeth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toothpaste should strengthen </a:t>
            </a:r>
            <a:r>
              <a:rPr sz="1800" spc="-10" dirty="0">
                <a:latin typeface="Arial"/>
                <a:cs typeface="Arial"/>
              </a:rPr>
              <a:t>your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gums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I </a:t>
            </a:r>
            <a:r>
              <a:rPr sz="1800" spc="-5" dirty="0">
                <a:latin typeface="Arial"/>
                <a:cs typeface="Arial"/>
              </a:rPr>
              <a:t>prefer toothpaste that freshens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breath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spc="-5" dirty="0">
                <a:latin typeface="Arial"/>
                <a:cs typeface="Arial"/>
              </a:rPr>
              <a:t>Prevention of tooth decay is not an important benefit </a:t>
            </a:r>
            <a:r>
              <a:rPr sz="1800" spc="-10" dirty="0">
                <a:latin typeface="Arial"/>
                <a:cs typeface="Arial"/>
              </a:rPr>
              <a:t>offered </a:t>
            </a:r>
            <a:r>
              <a:rPr sz="1800" spc="-5" dirty="0">
                <a:latin typeface="Arial"/>
                <a:cs typeface="Arial"/>
              </a:rPr>
              <a:t>by a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toothpaste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The most </a:t>
            </a:r>
            <a:r>
              <a:rPr sz="1800" spc="-5" dirty="0">
                <a:latin typeface="Arial"/>
                <a:cs typeface="Arial"/>
              </a:rPr>
              <a:t>important consideration in </a:t>
            </a:r>
            <a:r>
              <a:rPr sz="1800" spc="-10" dirty="0">
                <a:latin typeface="Arial"/>
                <a:cs typeface="Arial"/>
              </a:rPr>
              <a:t>buying </a:t>
            </a:r>
            <a:r>
              <a:rPr sz="1800" spc="-5" dirty="0">
                <a:latin typeface="Arial"/>
                <a:cs typeface="Arial"/>
              </a:rPr>
              <a:t>a toothpaste is </a:t>
            </a:r>
            <a:r>
              <a:rPr sz="1800" dirty="0">
                <a:latin typeface="Arial"/>
                <a:cs typeface="Arial"/>
              </a:rPr>
              <a:t>attractive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teeth</a:t>
            </a:r>
            <a:endParaRPr lang="en-US" sz="1800" spc="-5" dirty="0">
              <a:latin typeface="Arial"/>
              <a:cs typeface="Arial"/>
            </a:endParaRPr>
          </a:p>
          <a:p>
            <a:pPr marL="534670" indent="-343535">
              <a:spcBef>
                <a:spcPts val="1080"/>
              </a:spcBef>
              <a:tabLst>
                <a:tab pos="534670" algn="l"/>
                <a:tab pos="535305" algn="l"/>
              </a:tabLst>
            </a:pPr>
            <a:r>
              <a:rPr lang="en-US" spc="-5" dirty="0">
                <a:latin typeface="Arial"/>
                <a:cs typeface="Arial"/>
              </a:rPr>
              <a:t>Dataset: </a:t>
            </a:r>
            <a:r>
              <a:rPr lang="en-US" b="1" i="1" spc="-5" dirty="0">
                <a:solidFill>
                  <a:srgbClr val="FF0000"/>
                </a:solidFill>
                <a:latin typeface="Arial"/>
                <a:cs typeface="Arial"/>
              </a:rPr>
              <a:t>PCA_Factor_Analysis_Example.csv</a:t>
            </a:r>
            <a:endParaRPr lang="en-US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13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572635" cy="211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: Normalize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data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"/>
              <a:cs typeface="Arial"/>
            </a:endParaRPr>
          </a:p>
          <a:p>
            <a:pPr marL="53467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z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 transform:</a:t>
            </a:r>
            <a:endParaRPr sz="1800">
              <a:latin typeface="Arial"/>
              <a:cs typeface="Arial"/>
            </a:endParaRPr>
          </a:p>
          <a:p>
            <a:pPr marL="53467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"/>
                <a:cs typeface="Arial"/>
              </a:rPr>
              <a:t>Transformed </a:t>
            </a:r>
            <a:r>
              <a:rPr sz="1800" spc="-5" dirty="0">
                <a:latin typeface="Arial"/>
                <a:cs typeface="Arial"/>
              </a:rPr>
              <a:t>data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(Data </a:t>
            </a:r>
            <a:r>
              <a:rPr sz="1800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Mean) </a:t>
            </a:r>
            <a:r>
              <a:rPr sz="1800" dirty="0">
                <a:latin typeface="Arial"/>
                <a:cs typeface="Arial"/>
              </a:rPr>
              <a:t>/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267" y="3626358"/>
            <a:ext cx="2719070" cy="208661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00" spc="-5" dirty="0">
                <a:latin typeface="Arial"/>
                <a:cs typeface="Arial"/>
              </a:rPr>
              <a:t>Reading ghe file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Liberation Sans Narrow"/>
                <a:cs typeface="Liberation Sans Narrow"/>
              </a:rPr>
              <a:t>&gt;mydata </a:t>
            </a:r>
            <a:r>
              <a:rPr sz="1800" dirty="0">
                <a:latin typeface="Liberation Sans Narrow"/>
                <a:cs typeface="Liberation Sans Narrow"/>
              </a:rPr>
              <a:t>=</a:t>
            </a:r>
            <a:r>
              <a:rPr sz="1800" spc="25" dirty="0">
                <a:latin typeface="Liberation Sans Narrow"/>
                <a:cs typeface="Liberation Sans Narrow"/>
              </a:rPr>
              <a:t> </a:t>
            </a:r>
            <a:r>
              <a:rPr sz="1800" spc="-10" dirty="0">
                <a:latin typeface="Liberation Sans Narrow"/>
                <a:cs typeface="Liberation Sans Narrow"/>
              </a:rPr>
              <a:t>mydata[,2:7]</a:t>
            </a:r>
            <a:endParaRPr sz="18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</a:pPr>
            <a:endParaRPr sz="20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Liberation Sans Narrow"/>
              <a:cs typeface="Liberation Sans Narro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Transforming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Liberation Sans Narrow"/>
                <a:cs typeface="Liberation Sans Narrow"/>
              </a:rPr>
              <a:t>&gt;myzdata </a:t>
            </a:r>
            <a:r>
              <a:rPr sz="1800" dirty="0">
                <a:latin typeface="Liberation Sans Narrow"/>
                <a:cs typeface="Liberation Sans Narrow"/>
              </a:rPr>
              <a:t>= </a:t>
            </a:r>
            <a:r>
              <a:rPr sz="1800" spc="-5" dirty="0">
                <a:latin typeface="Liberation Sans Narrow"/>
                <a:cs typeface="Liberation Sans Narrow"/>
              </a:rPr>
              <a:t>scale(mydata)</a:t>
            </a:r>
            <a:endParaRPr sz="18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5080000" cy="169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: Check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Correlation</a:t>
            </a:r>
            <a:endParaRPr sz="1800">
              <a:latin typeface="Arial"/>
              <a:cs typeface="Arial"/>
            </a:endParaRPr>
          </a:p>
          <a:p>
            <a:pPr marL="335280" indent="-144145">
              <a:lnSpc>
                <a:spcPct val="100000"/>
              </a:lnSpc>
              <a:spcBef>
                <a:spcPts val="1080"/>
              </a:spcBef>
              <a:buChar char="•"/>
              <a:tabLst>
                <a:tab pos="335915" algn="l"/>
              </a:tabLst>
            </a:pPr>
            <a:r>
              <a:rPr sz="1800" spc="-20" dirty="0">
                <a:latin typeface="Arial"/>
                <a:cs typeface="Arial"/>
              </a:rPr>
              <a:t>Variables </a:t>
            </a:r>
            <a:r>
              <a:rPr sz="1800" dirty="0">
                <a:latin typeface="Arial"/>
                <a:cs typeface="Arial"/>
              </a:rPr>
              <a:t>must </a:t>
            </a:r>
            <a:r>
              <a:rPr sz="1800" spc="-5" dirty="0">
                <a:latin typeface="Arial"/>
                <a:cs typeface="Arial"/>
              </a:rPr>
              <a:t>be correlated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data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reduction</a:t>
            </a:r>
            <a:endParaRPr sz="180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8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cor(myzdata)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0006" y="643107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3762" y="3249676"/>
          <a:ext cx="6696708" cy="2400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24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49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Correlation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.873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-.086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-.858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.004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11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.572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.873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-.248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-.778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-.086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.572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-.248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-.858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-.778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.004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494023" y="2944749"/>
            <a:ext cx="15474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990000"/>
                </a:solidFill>
                <a:latin typeface="Arial"/>
                <a:cs typeface="Arial"/>
              </a:rPr>
              <a:t>Correlation</a:t>
            </a:r>
            <a:r>
              <a:rPr sz="1400" b="1" spc="-8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Matrix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8665" y="5828974"/>
            <a:ext cx="375729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5"/>
              </a:spcBef>
            </a:pPr>
            <a:r>
              <a:rPr sz="1800" spc="-5" dirty="0">
                <a:latin typeface="Arial"/>
                <a:cs typeface="Arial"/>
              </a:rPr>
              <a:t>High correlation </a:t>
            </a:r>
            <a:r>
              <a:rPr sz="1800" spc="-15" dirty="0">
                <a:latin typeface="Arial"/>
                <a:cs typeface="Arial"/>
              </a:rPr>
              <a:t>between </a:t>
            </a:r>
            <a:r>
              <a:rPr sz="1800" spc="-5" dirty="0">
                <a:latin typeface="Arial"/>
                <a:cs typeface="Arial"/>
              </a:rPr>
              <a:t>x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3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5</a:t>
            </a:r>
            <a:endParaRPr sz="18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Good correlation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spc="-5" dirty="0">
                <a:latin typeface="Arial"/>
                <a:cs typeface="Arial"/>
              </a:rPr>
              <a:t>x</a:t>
            </a:r>
            <a:r>
              <a:rPr sz="1800" spc="-7" baseline="-20833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4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6</a:t>
            </a:r>
            <a:endParaRPr sz="1800" baseline="-208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15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41121"/>
            <a:ext cx="8444865" cy="35035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 dirty="0">
              <a:latin typeface="Arial"/>
              <a:cs typeface="Arial"/>
            </a:endParaRPr>
          </a:p>
          <a:p>
            <a:pPr marL="191770"/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4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lang="en-US" spc="-5" dirty="0">
                <a:latin typeface="Arial"/>
                <a:cs typeface="Arial"/>
              </a:rPr>
              <a:t>Method used: </a:t>
            </a:r>
            <a:r>
              <a:rPr lang="en-US" spc="-5" dirty="0">
                <a:solidFill>
                  <a:srgbClr val="990000"/>
                </a:solidFill>
                <a:latin typeface="Arial"/>
                <a:cs typeface="Arial"/>
              </a:rPr>
              <a:t>Principle </a:t>
            </a:r>
            <a:r>
              <a:rPr lang="en-US" spc="-10" dirty="0">
                <a:solidFill>
                  <a:srgbClr val="990000"/>
                </a:solidFill>
                <a:latin typeface="Arial"/>
                <a:cs typeface="Arial"/>
              </a:rPr>
              <a:t>Component</a:t>
            </a:r>
            <a:r>
              <a:rPr lang="en-US" spc="-4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lang="en-IN" spc="-5" dirty="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90"/>
              </a:spcBef>
              <a:buChar char="&gt;"/>
              <a:tabLst>
                <a:tab pos="354330" algn="l"/>
              </a:tabLst>
            </a:pPr>
            <a:r>
              <a:rPr lang="en-IN" spc="-10" dirty="0" err="1">
                <a:latin typeface="Liberation Sans Narrow"/>
                <a:cs typeface="Liberation Sans Narrow"/>
              </a:rPr>
              <a:t>mymodel</a:t>
            </a:r>
            <a:r>
              <a:rPr lang="en-IN" spc="-10" dirty="0">
                <a:latin typeface="Liberation Sans Narrow"/>
                <a:cs typeface="Liberation Sans Narrow"/>
              </a:rPr>
              <a:t> </a:t>
            </a:r>
            <a:r>
              <a:rPr lang="en-IN" dirty="0">
                <a:latin typeface="Liberation Sans Narrow"/>
                <a:cs typeface="Liberation Sans Narrow"/>
              </a:rPr>
              <a:t>=</a:t>
            </a:r>
            <a:r>
              <a:rPr lang="en-IN" spc="30" dirty="0">
                <a:latin typeface="Liberation Sans Narrow"/>
                <a:cs typeface="Liberation Sans Narrow"/>
              </a:rPr>
              <a:t> </a:t>
            </a:r>
            <a:r>
              <a:rPr lang="en-IN" spc="-10" dirty="0" err="1">
                <a:latin typeface="Liberation Sans Narrow"/>
                <a:cs typeface="Liberation Sans Narrow"/>
              </a:rPr>
              <a:t>princomp</a:t>
            </a:r>
            <a:r>
              <a:rPr lang="en-IN" spc="-10" dirty="0">
                <a:latin typeface="Liberation Sans Narrow"/>
                <a:cs typeface="Liberation Sans Narrow"/>
              </a:rPr>
              <a:t>(</a:t>
            </a:r>
            <a:r>
              <a:rPr lang="en-IN" spc="-10" dirty="0" err="1">
                <a:latin typeface="Liberation Sans Narrow"/>
                <a:cs typeface="Liberation Sans Narrow"/>
              </a:rPr>
              <a:t>myzdata</a:t>
            </a:r>
            <a:r>
              <a:rPr lang="en-IN" spc="-10" dirty="0">
                <a:latin typeface="Liberation Sans Narrow"/>
                <a:cs typeface="Liberation Sans Narrow"/>
              </a:rPr>
              <a:t>)</a:t>
            </a:r>
            <a:endParaRPr lang="en-IN" dirty="0">
              <a:latin typeface="Liberation Sans Narrow"/>
              <a:cs typeface="Liberation Sans Narrow"/>
            </a:endParaRPr>
          </a:p>
          <a:p>
            <a:pPr marL="191770">
              <a:lnSpc>
                <a:spcPct val="100000"/>
              </a:lnSpc>
              <a:spcBef>
                <a:spcPts val="1070"/>
              </a:spcBef>
            </a:pPr>
            <a:r>
              <a:rPr lang="en-IN" spc="-10" dirty="0">
                <a:latin typeface="Liberation Sans Narrow"/>
                <a:cs typeface="Liberation Sans Narrow"/>
              </a:rPr>
              <a:t>&gt;summary(</a:t>
            </a:r>
            <a:r>
              <a:rPr lang="en-IN" spc="-10" dirty="0" err="1">
                <a:latin typeface="Liberation Sans Narrow"/>
                <a:cs typeface="Liberation Sans Narrow"/>
              </a:rPr>
              <a:t>mymodel</a:t>
            </a:r>
            <a:r>
              <a:rPr lang="en-IN" spc="-10" dirty="0">
                <a:latin typeface="Liberation Sans Narrow"/>
                <a:cs typeface="Liberation Sans Narrow"/>
              </a:rPr>
              <a:t>)</a:t>
            </a:r>
            <a:endParaRPr lang="en-IN" dirty="0">
              <a:latin typeface="Liberation Sans Narrow"/>
              <a:cs typeface="Liberation Sans Narrow"/>
            </a:endParaRPr>
          </a:p>
          <a:p>
            <a:pPr marL="191770" marR="73660">
              <a:lnSpc>
                <a:spcPct val="100000"/>
              </a:lnSpc>
              <a:spcBef>
                <a:spcPts val="1080"/>
              </a:spcBef>
              <a:tabLst>
                <a:tab pos="859155" algn="l"/>
                <a:tab pos="1186815" algn="l"/>
                <a:tab pos="2046605" algn="l"/>
                <a:tab pos="3110865" algn="l"/>
                <a:tab pos="4020820" algn="l"/>
                <a:tab pos="4346575" algn="l"/>
                <a:tab pos="5728970" algn="l"/>
                <a:tab pos="6968490" algn="l"/>
                <a:tab pos="7371080" algn="l"/>
              </a:tabLst>
            </a:pPr>
            <a:r>
              <a:rPr sz="1800" spc="-5" dirty="0">
                <a:latin typeface="Arial"/>
                <a:cs typeface="Arial"/>
              </a:rPr>
              <a:t>Us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dirty="0">
                <a:latin typeface="Arial"/>
                <a:cs typeface="Arial"/>
              </a:rPr>
              <a:t>	to	</a:t>
            </a:r>
            <a:r>
              <a:rPr sz="1800" spc="-5" dirty="0">
                <a:latin typeface="Arial"/>
                <a:cs typeface="Arial"/>
              </a:rPr>
              <a:t>i</a:t>
            </a:r>
            <a:r>
              <a:rPr sz="1800" spc="-15" dirty="0">
                <a:latin typeface="Arial"/>
                <a:cs typeface="Arial"/>
              </a:rPr>
              <a:t>d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nt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10" dirty="0">
                <a:latin typeface="Arial"/>
                <a:cs typeface="Arial"/>
              </a:rPr>
              <a:t>f</a:t>
            </a:r>
            <a:r>
              <a:rPr sz="1800" dirty="0">
                <a:latin typeface="Arial"/>
                <a:cs typeface="Arial"/>
              </a:rPr>
              <a:t>y	</a:t>
            </a:r>
            <a:r>
              <a:rPr sz="1800" spc="-5" dirty="0">
                <a:latin typeface="Arial"/>
                <a:cs typeface="Arial"/>
              </a:rPr>
              <a:t>minimum</a:t>
            </a:r>
            <a:r>
              <a:rPr sz="1800" dirty="0">
                <a:latin typeface="Arial"/>
                <a:cs typeface="Arial"/>
              </a:rPr>
              <a:t>	n</a:t>
            </a:r>
            <a:r>
              <a:rPr sz="1800" spc="-5" dirty="0">
                <a:latin typeface="Arial"/>
                <a:cs typeface="Arial"/>
              </a:rPr>
              <a:t>um</a:t>
            </a:r>
            <a:r>
              <a:rPr sz="1800" spc="-15" dirty="0">
                <a:latin typeface="Arial"/>
                <a:cs typeface="Arial"/>
              </a:rPr>
              <a:t>b</a:t>
            </a:r>
            <a:r>
              <a:rPr sz="1800" spc="-5" dirty="0">
                <a:latin typeface="Arial"/>
                <a:cs typeface="Arial"/>
              </a:rPr>
              <a:t>er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f	</a:t>
            </a:r>
            <a:r>
              <a:rPr sz="1800" spc="10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m</a:t>
            </a:r>
            <a:r>
              <a:rPr sz="1800" spc="-5" dirty="0">
                <a:latin typeface="Arial"/>
                <a:cs typeface="Arial"/>
              </a:rPr>
              <a:t>p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spc="-5" dirty="0">
                <a:latin typeface="Arial"/>
                <a:cs typeface="Arial"/>
              </a:rPr>
              <a:t>nents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acc</a:t>
            </a:r>
            <a:r>
              <a:rPr sz="1800" spc="-15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nti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g</a:t>
            </a:r>
            <a:r>
              <a:rPr sz="1800" dirty="0">
                <a:latin typeface="Arial"/>
                <a:cs typeface="Arial"/>
              </a:rPr>
              <a:t>	for	</a:t>
            </a:r>
            <a:r>
              <a:rPr sz="1800" spc="10" dirty="0">
                <a:latin typeface="Arial"/>
                <a:cs typeface="Arial"/>
              </a:rPr>
              <a:t>m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x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mum  variance in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data</a:t>
            </a:r>
            <a:r>
              <a:rPr lang="en-IN" dirty="0">
                <a:latin typeface="Arial"/>
                <a:cs typeface="Arial"/>
              </a:rPr>
              <a:t> ;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Eigen </a:t>
            </a:r>
            <a:r>
              <a:rPr sz="1800" spc="-25" dirty="0">
                <a:solidFill>
                  <a:srgbClr val="000099"/>
                </a:solidFill>
                <a:latin typeface="Arial"/>
                <a:cs typeface="Arial"/>
              </a:rPr>
              <a:t>Values</a:t>
            </a:r>
            <a:r>
              <a:rPr sz="1800" spc="-25" dirty="0">
                <a:solidFill>
                  <a:srgbClr val="990000"/>
                </a:solidFill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Amount of variance attributed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a component</a:t>
            </a:r>
            <a:r>
              <a:rPr lang="en-IN" sz="1800" spc="-5" dirty="0">
                <a:latin typeface="Arial"/>
                <a:cs typeface="Arial"/>
              </a:rPr>
              <a:t>.</a:t>
            </a:r>
          </a:p>
          <a:p>
            <a:pPr marL="191770" marR="73660">
              <a:lnSpc>
                <a:spcPct val="100000"/>
              </a:lnSpc>
              <a:spcBef>
                <a:spcPts val="1080"/>
              </a:spcBef>
              <a:tabLst>
                <a:tab pos="859155" algn="l"/>
                <a:tab pos="1186815" algn="l"/>
                <a:tab pos="2046605" algn="l"/>
                <a:tab pos="3110865" algn="l"/>
                <a:tab pos="4020820" algn="l"/>
                <a:tab pos="4346575" algn="l"/>
                <a:tab pos="5728970" algn="l"/>
                <a:tab pos="6968490" algn="l"/>
                <a:tab pos="7371080" algn="l"/>
              </a:tabLst>
            </a:pPr>
            <a:r>
              <a:rPr sz="1800" spc="-45" dirty="0">
                <a:latin typeface="Arial"/>
                <a:cs typeface="Arial"/>
              </a:rPr>
              <a:t>Total </a:t>
            </a:r>
            <a:r>
              <a:rPr sz="1800" spc="-20" dirty="0">
                <a:latin typeface="Arial"/>
                <a:cs typeface="Arial"/>
              </a:rPr>
              <a:t>Variance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6 </a:t>
            </a:r>
            <a:r>
              <a:rPr sz="1800" dirty="0">
                <a:latin typeface="Arial"/>
                <a:cs typeface="Arial"/>
              </a:rPr>
              <a:t>(Sum </a:t>
            </a:r>
            <a:r>
              <a:rPr sz="1800" spc="-5" dirty="0">
                <a:latin typeface="Arial"/>
                <a:cs typeface="Arial"/>
              </a:rPr>
              <a:t>of all Eigen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values)</a:t>
            </a:r>
            <a:endParaRPr lang="en-IN" dirty="0">
              <a:latin typeface="Arial"/>
              <a:cs typeface="Arial"/>
            </a:endParaRPr>
          </a:p>
          <a:p>
            <a:pPr marL="191770" marR="73660">
              <a:lnSpc>
                <a:spcPct val="100000"/>
              </a:lnSpc>
              <a:spcBef>
                <a:spcPts val="1080"/>
              </a:spcBef>
              <a:tabLst>
                <a:tab pos="859155" algn="l"/>
                <a:tab pos="1186815" algn="l"/>
                <a:tab pos="2046605" algn="l"/>
                <a:tab pos="3110865" algn="l"/>
                <a:tab pos="4020820" algn="l"/>
                <a:tab pos="4346575" algn="l"/>
                <a:tab pos="5728970" algn="l"/>
                <a:tab pos="6968490" algn="l"/>
                <a:tab pos="7371080" algn="l"/>
              </a:tabLst>
            </a:pPr>
            <a:r>
              <a:rPr sz="1800" spc="-5" dirty="0">
                <a:latin typeface="Arial"/>
                <a:cs typeface="Arial"/>
              </a:rPr>
              <a:t>Prop.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variance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PC1=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Eigen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PC1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/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Total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Variance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(2.731/6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0.455)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224224"/>
              </p:ext>
            </p:extLst>
          </p:nvPr>
        </p:nvGraphicFramePr>
        <p:xfrm>
          <a:off x="762000" y="4540859"/>
          <a:ext cx="7456804" cy="2003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6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22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5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45"/>
                        </a:lnSpc>
                      </a:pPr>
                      <a:r>
                        <a:rPr sz="12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345"/>
                        </a:lnSpc>
                      </a:pPr>
                      <a:r>
                        <a:rPr sz="12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SD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45"/>
                        </a:lnSpc>
                      </a:pPr>
                      <a:r>
                        <a:rPr sz="1200" spc="-1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9410" marR="212725" indent="-14033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12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Proportion</a:t>
                      </a:r>
                      <a:r>
                        <a:rPr sz="1200" spc="-9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of  </a:t>
                      </a:r>
                      <a:r>
                        <a:rPr sz="1200" spc="-1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990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45"/>
                        </a:lnSpc>
                      </a:pPr>
                      <a:r>
                        <a:rPr sz="12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Cumulative Proportion </a:t>
                      </a:r>
                      <a:r>
                        <a:rPr sz="12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200" spc="-6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1.653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2.732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373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1.489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2.217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0.369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0.825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373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0.665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0.074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0.899</a:t>
                      </a: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286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0.584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0.341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0.057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0.955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330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0.427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0.182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0.030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0.986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330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0.292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0.085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330"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Bef>
                          <a:spcPts val="434"/>
                        </a:spcBef>
                      </a:pPr>
                      <a:r>
                        <a:rPr sz="1200" spc="-25" dirty="0">
                          <a:latin typeface="Arial"/>
                          <a:cs typeface="Arial"/>
                        </a:rPr>
                        <a:t>Total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Bef>
                          <a:spcPts val="4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6.000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16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8446135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4</a:t>
            </a:r>
            <a:r>
              <a:rPr sz="1800" spc="-5" dirty="0">
                <a:latin typeface="Arial"/>
                <a:cs typeface="Arial"/>
              </a:rPr>
              <a:t>: 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number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 marL="263525" marR="508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44195" algn="l"/>
                <a:tab pos="3225165" algn="l"/>
              </a:tabLst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Based 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on</a:t>
            </a:r>
            <a:r>
              <a:rPr sz="1800" spc="-6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Eigen</a:t>
            </a:r>
            <a:r>
              <a:rPr sz="1800" spc="2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0099"/>
                </a:solidFill>
                <a:latin typeface="Arial"/>
                <a:cs typeface="Arial"/>
              </a:rPr>
              <a:t>Values:	</a:t>
            </a:r>
            <a:r>
              <a:rPr sz="1800" dirty="0">
                <a:latin typeface="Arial"/>
                <a:cs typeface="Arial"/>
              </a:rPr>
              <a:t>Only components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Eigen value </a:t>
            </a:r>
            <a:r>
              <a:rPr sz="1800" dirty="0">
                <a:latin typeface="Arial"/>
                <a:cs typeface="Arial"/>
              </a:rPr>
              <a:t>&gt; </a:t>
            </a:r>
            <a:r>
              <a:rPr sz="1800" spc="-5" dirty="0">
                <a:latin typeface="Arial"/>
                <a:cs typeface="Arial"/>
              </a:rPr>
              <a:t>1.0 or Eigen  value </a:t>
            </a:r>
            <a:r>
              <a:rPr sz="1800" dirty="0">
                <a:latin typeface="Arial"/>
                <a:cs typeface="Arial"/>
              </a:rPr>
              <a:t>&gt; </a:t>
            </a:r>
            <a:r>
              <a:rPr sz="1800" spc="-5" dirty="0">
                <a:latin typeface="Arial"/>
                <a:cs typeface="Arial"/>
              </a:rPr>
              <a:t>0.7 are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selected.</a:t>
            </a:r>
            <a:endParaRPr sz="1800">
              <a:latin typeface="Arial"/>
              <a:cs typeface="Arial"/>
            </a:endParaRPr>
          </a:p>
          <a:p>
            <a:pPr marL="565150" indent="-30226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65785" algn="l"/>
              </a:tabLst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Based on cumulative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%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variance</a:t>
            </a:r>
            <a:r>
              <a:rPr sz="1800" spc="-5" dirty="0">
                <a:latin typeface="Arial"/>
                <a:cs typeface="Arial"/>
              </a:rPr>
              <a:t>: Factors extracted should account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3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</a:t>
            </a:r>
            <a:endParaRPr sz="1800">
              <a:latin typeface="Arial"/>
              <a:cs typeface="Arial"/>
            </a:endParaRPr>
          </a:p>
          <a:p>
            <a:pPr marL="52705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least 65 % of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4819" y="5671210"/>
            <a:ext cx="3074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Number of factors selected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8825" y="3140075"/>
          <a:ext cx="6781798" cy="2139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6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3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50"/>
                        </a:lnSpc>
                      </a:pPr>
                      <a:r>
                        <a:rPr sz="12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350"/>
                        </a:lnSpc>
                      </a:pPr>
                      <a:r>
                        <a:rPr sz="12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SD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350"/>
                        </a:lnSpc>
                      </a:pPr>
                      <a:r>
                        <a:rPr sz="1200" spc="-1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Proportion</a:t>
                      </a:r>
                      <a:r>
                        <a:rPr sz="1200" spc="-5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of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540" algn="ctr">
                        <a:lnSpc>
                          <a:spcPts val="1350"/>
                        </a:lnSpc>
                      </a:pPr>
                      <a:r>
                        <a:rPr sz="1200" spc="-1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84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350"/>
                        </a:lnSpc>
                      </a:pPr>
                      <a:r>
                        <a:rPr sz="12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Cumulative </a:t>
                      </a:r>
                      <a:r>
                        <a:rPr sz="12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Proportion of</a:t>
                      </a:r>
                      <a:r>
                        <a:rPr sz="1200" spc="-11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52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1.653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2.732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45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5"/>
                        </a:lnSpc>
                        <a:spcBef>
                          <a:spcPts val="42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378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1.489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2.217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0.369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0.825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379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0.665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0.074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0.899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51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0.584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0.341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0.057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0.955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379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0.427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0.182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0.030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0.986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251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0.292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0.085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379"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spc="-25" dirty="0">
                          <a:latin typeface="Arial"/>
                          <a:cs typeface="Arial"/>
                        </a:rPr>
                        <a:t>Total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5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6.000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30006" y="643107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Times New Roman"/>
                <a:cs typeface="Times New Roman"/>
              </a:rPr>
              <a:t>18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016" y="6446621"/>
            <a:ext cx="313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1865" algn="l"/>
              </a:tabLst>
            </a:pPr>
            <a:r>
              <a:rPr sz="1800" spc="-5" dirty="0">
                <a:latin typeface="Arial"/>
                <a:cs typeface="Arial"/>
              </a:rPr>
              <a:t>Number	</a:t>
            </a:r>
            <a:r>
              <a:rPr sz="1800" dirty="0">
                <a:latin typeface="Arial"/>
                <a:cs typeface="Arial"/>
              </a:rPr>
              <a:t>of factors </a:t>
            </a:r>
            <a:r>
              <a:rPr sz="1800" spc="-5" dirty="0">
                <a:latin typeface="Arial"/>
                <a:cs typeface="Arial"/>
              </a:rPr>
              <a:t>selected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2697479"/>
            <a:ext cx="3810000" cy="3803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718769"/>
            <a:ext cx="8447405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4</a:t>
            </a:r>
            <a:r>
              <a:rPr sz="1800" spc="-5" dirty="0">
                <a:latin typeface="Arial"/>
                <a:cs typeface="Arial"/>
              </a:rPr>
              <a:t>: 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number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Liberation Sans Narrow"/>
                <a:cs typeface="Liberation Sans Narrow"/>
              </a:rPr>
              <a:t>&gt;plot(mymodel)</a:t>
            </a:r>
            <a:endParaRPr sz="1800">
              <a:latin typeface="Liberation Sans Narrow"/>
              <a:cs typeface="Liberation Sans Narrow"/>
            </a:endParaRPr>
          </a:p>
          <a:p>
            <a:pPr marL="263525" marR="5080" algn="just">
              <a:lnSpc>
                <a:spcPct val="100000"/>
              </a:lnSpc>
              <a:spcBef>
                <a:spcPts val="955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3. Based on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Scree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plot: </a:t>
            </a:r>
            <a:r>
              <a:rPr sz="1800" spc="-5" dirty="0">
                <a:latin typeface="Arial"/>
                <a:cs typeface="Arial"/>
              </a:rPr>
              <a:t>Plot </a:t>
            </a:r>
            <a:r>
              <a:rPr sz="1800" dirty="0">
                <a:latin typeface="Arial"/>
                <a:cs typeface="Arial"/>
              </a:rPr>
              <a:t>of the </a:t>
            </a:r>
            <a:r>
              <a:rPr sz="1800" spc="-5" dirty="0">
                <a:latin typeface="Arial"/>
                <a:cs typeface="Arial"/>
              </a:rPr>
              <a:t>Eigen values against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number of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10" dirty="0">
                <a:latin typeface="Arial"/>
                <a:cs typeface="Arial"/>
              </a:rPr>
              <a:t>in  </a:t>
            </a:r>
            <a:r>
              <a:rPr sz="1800" spc="-5" dirty="0">
                <a:latin typeface="Arial"/>
                <a:cs typeface="Arial"/>
              </a:rPr>
              <a:t>order of extraction.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number of components is identified based </a:t>
            </a:r>
            <a:r>
              <a:rPr sz="1800" dirty="0">
                <a:latin typeface="Arial"/>
                <a:cs typeface="Arial"/>
              </a:rPr>
              <a:t>on </a:t>
            </a:r>
            <a:r>
              <a:rPr sz="1800" spc="-5" dirty="0">
                <a:latin typeface="Arial"/>
                <a:cs typeface="Arial"/>
              </a:rPr>
              <a:t>slope  </a:t>
            </a:r>
            <a:r>
              <a:rPr sz="1800" spc="-10" dirty="0">
                <a:latin typeface="Arial"/>
                <a:cs typeface="Arial"/>
              </a:rPr>
              <a:t>change </a:t>
            </a:r>
            <a:r>
              <a:rPr sz="1800" spc="-5" dirty="0">
                <a:latin typeface="Arial"/>
                <a:cs typeface="Arial"/>
              </a:rPr>
              <a:t>of scree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plot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9428" y="247903"/>
            <a:ext cx="2962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5" dirty="0">
                <a:solidFill>
                  <a:srgbClr val="CC6600"/>
                </a:solidFill>
                <a:latin typeface="Comic Sans MS"/>
                <a:cs typeface="Comic Sans MS"/>
              </a:rPr>
              <a:t> 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18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2867" y="1157686"/>
            <a:ext cx="5791200" cy="129857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5"/>
              </a:spcBef>
              <a:tabLst>
                <a:tab pos="3150235" algn="l"/>
              </a:tabLst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Calculate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Component	</a:t>
            </a:r>
            <a:r>
              <a:rPr sz="1800" spc="-5" dirty="0">
                <a:latin typeface="Arial"/>
                <a:cs typeface="Arial"/>
              </a:rPr>
              <a:t>Scores– Eigen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Vectors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Liberation Sans Narrow"/>
                <a:cs typeface="Liberation Sans Narrow"/>
              </a:rPr>
              <a:t>&gt;loadings(mymodel)</a:t>
            </a:r>
            <a:endParaRPr sz="1800">
              <a:latin typeface="Liberation Sans Narrow"/>
              <a:cs typeface="Liberation Sans Narrow"/>
            </a:endParaRPr>
          </a:p>
          <a:p>
            <a:pPr marL="980440">
              <a:lnSpc>
                <a:spcPct val="100000"/>
              </a:lnSpc>
              <a:spcBef>
                <a:spcPts val="525"/>
              </a:spcBef>
              <a:tabLst>
                <a:tab pos="1334135" algn="l"/>
              </a:tabLst>
            </a:pPr>
            <a:r>
              <a:rPr sz="2500" i="1" spc="15" dirty="0">
                <a:latin typeface="Times New Roman"/>
                <a:cs typeface="Times New Roman"/>
              </a:rPr>
              <a:t>y</a:t>
            </a:r>
            <a:r>
              <a:rPr sz="2175" i="1" spc="22" baseline="-24904" dirty="0">
                <a:latin typeface="Times New Roman"/>
                <a:cs typeface="Times New Roman"/>
              </a:rPr>
              <a:t>i	</a:t>
            </a:r>
            <a:r>
              <a:rPr sz="2500" spc="70" dirty="0">
                <a:latin typeface="Symbol"/>
                <a:cs typeface="Symbol"/>
              </a:rPr>
              <a:t>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i="1" spc="10" dirty="0">
                <a:latin typeface="Times New Roman"/>
                <a:cs typeface="Times New Roman"/>
              </a:rPr>
              <a:t>a</a:t>
            </a:r>
            <a:r>
              <a:rPr sz="2175" i="1" spc="15" baseline="-24904" dirty="0">
                <a:latin typeface="Times New Roman"/>
                <a:cs typeface="Times New Roman"/>
              </a:rPr>
              <a:t>i</a:t>
            </a:r>
            <a:r>
              <a:rPr sz="2175" spc="15" baseline="-24904" dirty="0">
                <a:latin typeface="Times New Roman"/>
                <a:cs typeface="Times New Roman"/>
              </a:rPr>
              <a:t>1</a:t>
            </a:r>
            <a:r>
              <a:rPr sz="2500" i="1" spc="10" dirty="0">
                <a:latin typeface="Times New Roman"/>
                <a:cs typeface="Times New Roman"/>
              </a:rPr>
              <a:t>x</a:t>
            </a:r>
            <a:r>
              <a:rPr sz="2175" spc="15" baseline="-24904" dirty="0">
                <a:latin typeface="Times New Roman"/>
                <a:cs typeface="Times New Roman"/>
              </a:rPr>
              <a:t>1</a:t>
            </a:r>
            <a:r>
              <a:rPr sz="2175" spc="262" baseline="-249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204" dirty="0">
                <a:latin typeface="Times New Roman"/>
                <a:cs typeface="Times New Roman"/>
              </a:rPr>
              <a:t> </a:t>
            </a:r>
            <a:r>
              <a:rPr sz="2500" i="1" spc="5" dirty="0">
                <a:latin typeface="Times New Roman"/>
                <a:cs typeface="Times New Roman"/>
              </a:rPr>
              <a:t>a</a:t>
            </a:r>
            <a:r>
              <a:rPr sz="2175" i="1" spc="7" baseline="-24904" dirty="0">
                <a:latin typeface="Times New Roman"/>
                <a:cs typeface="Times New Roman"/>
              </a:rPr>
              <a:t>i</a:t>
            </a:r>
            <a:r>
              <a:rPr sz="2175" i="1" spc="-345" baseline="-24904" dirty="0">
                <a:latin typeface="Times New Roman"/>
                <a:cs typeface="Times New Roman"/>
              </a:rPr>
              <a:t> </a:t>
            </a:r>
            <a:r>
              <a:rPr sz="2175" spc="67" baseline="-24904" dirty="0">
                <a:latin typeface="Times New Roman"/>
                <a:cs typeface="Times New Roman"/>
              </a:rPr>
              <a:t>2</a:t>
            </a:r>
            <a:r>
              <a:rPr sz="2175" spc="-262" baseline="-24904" dirty="0">
                <a:latin typeface="Times New Roman"/>
                <a:cs typeface="Times New Roman"/>
              </a:rPr>
              <a:t> </a:t>
            </a:r>
            <a:r>
              <a:rPr sz="2500" i="1" spc="25" dirty="0">
                <a:latin typeface="Times New Roman"/>
                <a:cs typeface="Times New Roman"/>
              </a:rPr>
              <a:t>x</a:t>
            </a:r>
            <a:r>
              <a:rPr sz="2175" spc="37" baseline="-24904" dirty="0">
                <a:latin typeface="Times New Roman"/>
                <a:cs typeface="Times New Roman"/>
              </a:rPr>
              <a:t>2</a:t>
            </a:r>
            <a:r>
              <a:rPr sz="2175" spc="427" baseline="-249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210" dirty="0">
                <a:latin typeface="Times New Roman"/>
                <a:cs typeface="Times New Roman"/>
              </a:rPr>
              <a:t> </a:t>
            </a:r>
            <a:r>
              <a:rPr sz="2500" i="1" spc="60" dirty="0">
                <a:latin typeface="Times New Roman"/>
                <a:cs typeface="Times New Roman"/>
              </a:rPr>
              <a:t>a</a:t>
            </a:r>
            <a:r>
              <a:rPr sz="2175" i="1" spc="89" baseline="-24904" dirty="0">
                <a:latin typeface="Times New Roman"/>
                <a:cs typeface="Times New Roman"/>
              </a:rPr>
              <a:t>i</a:t>
            </a:r>
            <a:r>
              <a:rPr sz="2175" spc="89" baseline="-24904" dirty="0">
                <a:latin typeface="Times New Roman"/>
                <a:cs typeface="Times New Roman"/>
              </a:rPr>
              <a:t>3</a:t>
            </a:r>
            <a:r>
              <a:rPr sz="2500" i="1" spc="60" dirty="0">
                <a:latin typeface="Times New Roman"/>
                <a:cs typeface="Times New Roman"/>
              </a:rPr>
              <a:t>x</a:t>
            </a:r>
            <a:r>
              <a:rPr sz="2175" spc="89" baseline="-24904" dirty="0">
                <a:latin typeface="Times New Roman"/>
                <a:cs typeface="Times New Roman"/>
              </a:rPr>
              <a:t>3</a:t>
            </a:r>
            <a:r>
              <a:rPr sz="2175" spc="330" baseline="-24904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180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</a:t>
            </a:r>
            <a:r>
              <a:rPr sz="2500" spc="-195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</a:t>
            </a:r>
            <a:r>
              <a:rPr sz="2500" spc="-200" dirty="0">
                <a:latin typeface="Times New Roman"/>
                <a:cs typeface="Times New Roman"/>
              </a:rPr>
              <a:t> </a:t>
            </a:r>
            <a:r>
              <a:rPr sz="2500" spc="70" dirty="0">
                <a:latin typeface="Symbol"/>
                <a:cs typeface="Symbol"/>
              </a:rPr>
              <a:t></a:t>
            </a:r>
            <a:r>
              <a:rPr sz="2500" spc="-215" dirty="0">
                <a:latin typeface="Times New Roman"/>
                <a:cs typeface="Times New Roman"/>
              </a:rPr>
              <a:t> </a:t>
            </a:r>
            <a:r>
              <a:rPr sz="2500" i="1" spc="10" dirty="0">
                <a:latin typeface="Times New Roman"/>
                <a:cs typeface="Times New Roman"/>
              </a:rPr>
              <a:t>a</a:t>
            </a:r>
            <a:r>
              <a:rPr sz="2175" i="1" spc="15" baseline="-24904" dirty="0">
                <a:latin typeface="Times New Roman"/>
                <a:cs typeface="Times New Roman"/>
              </a:rPr>
              <a:t>ik</a:t>
            </a:r>
            <a:r>
              <a:rPr sz="2175" i="1" spc="-82" baseline="-24904" dirty="0">
                <a:latin typeface="Times New Roman"/>
                <a:cs typeface="Times New Roman"/>
              </a:rPr>
              <a:t> </a:t>
            </a:r>
            <a:r>
              <a:rPr sz="2500" i="1" spc="20" dirty="0">
                <a:latin typeface="Times New Roman"/>
                <a:cs typeface="Times New Roman"/>
              </a:rPr>
              <a:t>x</a:t>
            </a:r>
            <a:r>
              <a:rPr sz="2175" i="1" spc="30" baseline="-24904" dirty="0">
                <a:latin typeface="Times New Roman"/>
                <a:cs typeface="Times New Roman"/>
              </a:rPr>
              <a:t>k</a:t>
            </a:r>
            <a:endParaRPr sz="2175" baseline="-24904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27250" y="2736850"/>
          <a:ext cx="29718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0.562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-0.182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0.566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-0.088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-0.207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-0.530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0.236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39" y="718769"/>
            <a:ext cx="4184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b="1" spc="4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19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867275" cy="87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6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Interpret </a:t>
            </a:r>
            <a:r>
              <a:rPr sz="1800" spc="-10" dirty="0">
                <a:latin typeface="Arial"/>
                <a:cs typeface="Arial"/>
              </a:rPr>
              <a:t>Components </a:t>
            </a:r>
            <a:r>
              <a:rPr sz="1800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Eigen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Vectors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40" y="4592573"/>
            <a:ext cx="42906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0100"/>
              </a:lnSpc>
              <a:spcBef>
                <a:spcPts val="10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 1 is correlated </a:t>
            </a:r>
            <a:r>
              <a:rPr sz="1800" spc="-15" dirty="0">
                <a:solidFill>
                  <a:srgbClr val="000099"/>
                </a:solidFill>
                <a:latin typeface="Arial"/>
                <a:cs typeface="Arial"/>
              </a:rPr>
              <a:t>with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x</a:t>
            </a:r>
            <a:r>
              <a:rPr sz="1800" spc="-7" baseline="-20833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,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3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&amp;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5 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 2 is correlated </a:t>
            </a:r>
            <a:r>
              <a:rPr sz="1800" spc="-15" dirty="0">
                <a:solidFill>
                  <a:srgbClr val="000099"/>
                </a:solidFill>
                <a:latin typeface="Arial"/>
                <a:cs typeface="Arial"/>
              </a:rPr>
              <a:t>with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x</a:t>
            </a:r>
            <a:r>
              <a:rPr sz="1800" spc="-7" baseline="-20833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,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4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&amp;</a:t>
            </a:r>
            <a:r>
              <a:rPr sz="1800" spc="-6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6</a:t>
            </a:r>
            <a:endParaRPr sz="1800" baseline="-20833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127250" y="1908175"/>
          <a:ext cx="29718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0.562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-0.182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0.566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-0.088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-0.207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-0.530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0.236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R="3917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20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184650" cy="87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Interpret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817" y="5120132"/>
            <a:ext cx="569722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Arial"/>
                <a:cs typeface="Arial"/>
              </a:rPr>
              <a:t>Interpretation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 1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(y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)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represents the health related</a:t>
            </a:r>
            <a:r>
              <a:rPr sz="1800" spc="11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benefits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0450" y="1746250"/>
          <a:ext cx="5562600" cy="33496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0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01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227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Prevention of</a:t>
                      </a:r>
                      <a:r>
                        <a:rPr sz="1400" spc="-8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Cavities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4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0.562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-0.182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936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Strong</a:t>
                      </a:r>
                      <a:r>
                        <a:rPr sz="1400" spc="-4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Gum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0.566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-0.088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89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4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-0.207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-0.530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44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9864">
                <a:tc>
                  <a:txBody>
                    <a:bodyPr/>
                    <a:lstStyle/>
                    <a:p>
                      <a:pPr marL="454025" marR="189865" indent="-218440">
                        <a:lnSpc>
                          <a:spcPts val="1510"/>
                        </a:lnSpc>
                        <a:spcBef>
                          <a:spcPts val="1190"/>
                        </a:spcBef>
                      </a:pPr>
                      <a:r>
                        <a:rPr sz="14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Non Prevention</a:t>
                      </a:r>
                      <a:r>
                        <a:rPr sz="1400" spc="-7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of  </a:t>
                      </a:r>
                      <a:r>
                        <a:rPr sz="1400" spc="-3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Tooth</a:t>
                      </a:r>
                      <a:r>
                        <a:rPr sz="1400" spc="-4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Decay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51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-0.526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0.236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89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6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21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184650" cy="87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Interpret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817" y="5120132"/>
            <a:ext cx="565912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Arial"/>
                <a:cs typeface="Arial"/>
              </a:rPr>
              <a:t>Interpretation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 2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(y</a:t>
            </a:r>
            <a:r>
              <a:rPr sz="1800" spc="-15" baseline="-20833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)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represents the social related</a:t>
            </a:r>
            <a:r>
              <a:rPr sz="1800" spc="114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benefits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25625" y="1693926"/>
          <a:ext cx="4247515" cy="3186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44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7409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350" baseline="-21604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350" baseline="-21604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177">
                <a:tc>
                  <a:txBody>
                    <a:bodyPr/>
                    <a:lstStyle/>
                    <a:p>
                      <a:pPr marL="35560" algn="ctr">
                        <a:lnSpc>
                          <a:spcPts val="1485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Prevention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6195" algn="ctr">
                        <a:lnSpc>
                          <a:spcPts val="1595"/>
                        </a:lnSpc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Cavities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0.562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-0.170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Shiny</a:t>
                      </a:r>
                      <a:r>
                        <a:rPr sz="1400" spc="-5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Teeth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-0.182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4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0.534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Strong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Gum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0.566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-0.088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Fresh</a:t>
                      </a:r>
                      <a:r>
                        <a:rPr sz="1400" spc="-5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Breath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-0.207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-0.530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178">
                <a:tc>
                  <a:txBody>
                    <a:bodyPr/>
                    <a:lstStyle/>
                    <a:p>
                      <a:pPr marL="137160" marR="67945" indent="-22860">
                        <a:lnSpc>
                          <a:spcPts val="1510"/>
                        </a:lnSpc>
                        <a:spcBef>
                          <a:spcPts val="80"/>
                        </a:spcBef>
                      </a:pPr>
                      <a:r>
                        <a:rPr sz="1400" spc="-5" dirty="0">
                          <a:latin typeface="Arial"/>
                          <a:cs typeface="Arial"/>
                        </a:rPr>
                        <a:t>Non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Prevention 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Tooth</a:t>
                      </a:r>
                      <a:r>
                        <a:rPr sz="14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Decay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-0.526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5615" algn="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0.236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4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Attractive</a:t>
                      </a:r>
                      <a:r>
                        <a:rPr sz="1400" spc="-6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Teeth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-0.107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-0.585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22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184650" cy="169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990000"/>
                </a:solidFill>
                <a:latin typeface="Arial"/>
                <a:cs typeface="Arial"/>
              </a:rPr>
              <a:t>PRINCIPAL </a:t>
            </a:r>
            <a:r>
              <a:rPr sz="1800" b="1" spc="-5" dirty="0">
                <a:solidFill>
                  <a:srgbClr val="990000"/>
                </a:solidFill>
                <a:latin typeface="Arial"/>
                <a:cs typeface="Arial"/>
              </a:rPr>
              <a:t>COMPONENTS</a:t>
            </a:r>
            <a:r>
              <a:rPr sz="1800" b="1" spc="45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6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sz="1800" spc="-10" dirty="0">
                <a:latin typeface="Arial"/>
                <a:cs typeface="Arial"/>
              </a:rPr>
              <a:t>Reduced </a:t>
            </a:r>
            <a:r>
              <a:rPr sz="1800" spc="-5" dirty="0">
                <a:latin typeface="Arial"/>
                <a:cs typeface="Arial"/>
              </a:rPr>
              <a:t>Data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Set</a:t>
            </a:r>
            <a:endParaRPr sz="180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latin typeface="Liberation Sans Narrow"/>
                <a:cs typeface="Liberation Sans Narrow"/>
              </a:rPr>
              <a:t>&gt;pc =</a:t>
            </a:r>
            <a:r>
              <a:rPr sz="1800" spc="5" dirty="0">
                <a:latin typeface="Liberation Sans Narrow"/>
                <a:cs typeface="Liberation Sans Narrow"/>
              </a:rPr>
              <a:t> </a:t>
            </a:r>
            <a:r>
              <a:rPr sz="1800" spc="-10" dirty="0">
                <a:latin typeface="Liberation Sans Narrow"/>
                <a:cs typeface="Liberation Sans Narrow"/>
              </a:rPr>
              <a:t>mymodel$scores</a:t>
            </a:r>
            <a:endParaRPr sz="1800">
              <a:latin typeface="Liberation Sans Narrow"/>
              <a:cs typeface="Liberation Sans Narrow"/>
            </a:endParaRPr>
          </a:p>
          <a:p>
            <a:pPr marL="191770">
              <a:lnSpc>
                <a:spcPct val="100000"/>
              </a:lnSpc>
              <a:spcBef>
                <a:spcPts val="1070"/>
              </a:spcBef>
            </a:pPr>
            <a:r>
              <a:rPr sz="1800" spc="-5" dirty="0">
                <a:latin typeface="Liberation Sans Narrow"/>
                <a:cs typeface="Liberation Sans Narrow"/>
              </a:rPr>
              <a:t>&gt;cbind(pc[,1],</a:t>
            </a:r>
            <a:r>
              <a:rPr sz="1800" spc="35" dirty="0">
                <a:latin typeface="Liberation Sans Narrow"/>
                <a:cs typeface="Liberation Sans Narrow"/>
              </a:rPr>
              <a:t> </a:t>
            </a:r>
            <a:r>
              <a:rPr sz="1800" spc="-5" dirty="0">
                <a:latin typeface="Liberation Sans Narrow"/>
                <a:cs typeface="Liberation Sans Narrow"/>
              </a:rPr>
              <a:t>pc[,2])</a:t>
            </a:r>
            <a:endParaRPr sz="1800">
              <a:latin typeface="Liberation Sans Narrow"/>
              <a:cs typeface="Liberation Sans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1200" y="2568575"/>
          <a:ext cx="6930386" cy="41433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25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Respondent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PC1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PC2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Respondent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PC1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PC2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1.953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8765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1.412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0.1352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-1.6763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852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1.261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0.6098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2.4298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7810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577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spc="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504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-0.2372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-0.0908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975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98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1.3974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491"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-1.5154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755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238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5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5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77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-1.7423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1.6696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148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9400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49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1.7912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1.0622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7810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536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978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75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-0.2455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64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2.0882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-0.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402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0.8217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490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-1.29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543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28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-2.6799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364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-2.7958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321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-0.0294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 marR="6985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spc="-105" dirty="0">
                          <a:latin typeface="Arial"/>
                          <a:cs typeface="Arial"/>
                        </a:rPr>
                        <a:t>11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2.0398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781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893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079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-2.2053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402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-1.6682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421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654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69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0.106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389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2.4379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8445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146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87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-1.2162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5389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-0.4251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974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29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1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02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-3.2699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5389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-1.6509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781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801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30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500" spc="5" dirty="0">
                          <a:latin typeface="Arial"/>
                          <a:cs typeface="Arial"/>
                        </a:rPr>
                        <a:t>790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80"/>
                        </a:spcBef>
                      </a:pPr>
                      <a:r>
                        <a:rPr sz="1500" dirty="0">
                          <a:latin typeface="Arial"/>
                          <a:cs typeface="Arial"/>
                        </a:rPr>
                        <a:t>1.987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37843"/>
            <a:ext cx="9144000" cy="58419"/>
          </a:xfrm>
          <a:custGeom>
            <a:avLst/>
            <a:gdLst/>
            <a:ahLst/>
            <a:cxnLst/>
            <a:rect l="l" t="t" r="r" b="b"/>
            <a:pathLst>
              <a:path w="9144000" h="58419">
                <a:moveTo>
                  <a:pt x="9144000" y="46355"/>
                </a:moveTo>
                <a:lnTo>
                  <a:pt x="0" y="46355"/>
                </a:lnTo>
                <a:lnTo>
                  <a:pt x="0" y="57912"/>
                </a:lnTo>
                <a:lnTo>
                  <a:pt x="9144000" y="57912"/>
                </a:lnTo>
                <a:lnTo>
                  <a:pt x="9144000" y="46355"/>
                </a:lnTo>
                <a:close/>
              </a:path>
              <a:path w="9144000" h="58419">
                <a:moveTo>
                  <a:pt x="9144000" y="0"/>
                </a:moveTo>
                <a:lnTo>
                  <a:pt x="0" y="0"/>
                </a:lnTo>
                <a:lnTo>
                  <a:pt x="0" y="34798"/>
                </a:lnTo>
                <a:lnTo>
                  <a:pt x="9144000" y="34798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748027" y="2433827"/>
            <a:ext cx="5038725" cy="1228725"/>
            <a:chOff x="1748027" y="2433827"/>
            <a:chExt cx="5038725" cy="1228725"/>
          </a:xfrm>
        </p:grpSpPr>
        <p:sp>
          <p:nvSpPr>
            <p:cNvPr id="5" name="object 5"/>
            <p:cNvSpPr/>
            <p:nvPr/>
          </p:nvSpPr>
          <p:spPr>
            <a:xfrm>
              <a:off x="1752599" y="24383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482600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4826000" y="1219200"/>
                  </a:lnTo>
                  <a:lnTo>
                    <a:pt x="4872605" y="1213835"/>
                  </a:lnTo>
                  <a:lnTo>
                    <a:pt x="4915381" y="1198554"/>
                  </a:lnTo>
                  <a:lnTo>
                    <a:pt x="4953109" y="1174573"/>
                  </a:lnTo>
                  <a:lnTo>
                    <a:pt x="4984573" y="1143109"/>
                  </a:lnTo>
                  <a:lnTo>
                    <a:pt x="5008554" y="1105381"/>
                  </a:lnTo>
                  <a:lnTo>
                    <a:pt x="5023835" y="1062605"/>
                  </a:lnTo>
                  <a:lnTo>
                    <a:pt x="5029200" y="1016000"/>
                  </a:lnTo>
                  <a:lnTo>
                    <a:pt x="5029200" y="203200"/>
                  </a:lnTo>
                  <a:lnTo>
                    <a:pt x="5023835" y="156594"/>
                  </a:lnTo>
                  <a:lnTo>
                    <a:pt x="5008554" y="113818"/>
                  </a:lnTo>
                  <a:lnTo>
                    <a:pt x="4984573" y="76090"/>
                  </a:lnTo>
                  <a:lnTo>
                    <a:pt x="4953109" y="44626"/>
                  </a:lnTo>
                  <a:lnTo>
                    <a:pt x="4915381" y="20645"/>
                  </a:lnTo>
                  <a:lnTo>
                    <a:pt x="4872605" y="5364"/>
                  </a:lnTo>
                  <a:lnTo>
                    <a:pt x="48260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2599" y="24383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4826000" y="0"/>
                  </a:lnTo>
                  <a:lnTo>
                    <a:pt x="4872605" y="5364"/>
                  </a:lnTo>
                  <a:lnTo>
                    <a:pt x="4915381" y="20645"/>
                  </a:lnTo>
                  <a:lnTo>
                    <a:pt x="4953109" y="44626"/>
                  </a:lnTo>
                  <a:lnTo>
                    <a:pt x="4984573" y="76090"/>
                  </a:lnTo>
                  <a:lnTo>
                    <a:pt x="5008554" y="113818"/>
                  </a:lnTo>
                  <a:lnTo>
                    <a:pt x="5023835" y="156594"/>
                  </a:lnTo>
                  <a:lnTo>
                    <a:pt x="5029200" y="203200"/>
                  </a:lnTo>
                  <a:lnTo>
                    <a:pt x="5029200" y="1016000"/>
                  </a:lnTo>
                  <a:lnTo>
                    <a:pt x="5023835" y="1062605"/>
                  </a:lnTo>
                  <a:lnTo>
                    <a:pt x="5008554" y="1105381"/>
                  </a:lnTo>
                  <a:lnTo>
                    <a:pt x="4984573" y="1143109"/>
                  </a:lnTo>
                  <a:lnTo>
                    <a:pt x="4953109" y="1174573"/>
                  </a:lnTo>
                  <a:lnTo>
                    <a:pt x="4915381" y="1198554"/>
                  </a:lnTo>
                  <a:lnTo>
                    <a:pt x="4872605" y="1213835"/>
                  </a:lnTo>
                  <a:lnTo>
                    <a:pt x="482600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22982" y="2693035"/>
            <a:ext cx="33299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35" dirty="0">
                <a:solidFill>
                  <a:srgbClr val="FFFFFF"/>
                </a:solidFill>
                <a:latin typeface="Arial"/>
                <a:cs typeface="Arial"/>
              </a:rPr>
              <a:t>EXPLORATORY</a:t>
            </a:r>
            <a:r>
              <a:rPr sz="22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FFFFFF"/>
                </a:solidFill>
                <a:latin typeface="Arial"/>
                <a:cs typeface="Arial"/>
              </a:rPr>
              <a:t>FACTOR</a:t>
            </a:r>
            <a:endParaRPr sz="2200">
              <a:latin typeface="Arial"/>
              <a:cs typeface="Arial"/>
            </a:endParaRPr>
          </a:p>
          <a:p>
            <a:pPr marL="1051560">
              <a:lnSpc>
                <a:spcPct val="100000"/>
              </a:lnSpc>
            </a:pPr>
            <a:r>
              <a:rPr sz="2200" b="1" spc="-3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23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1661" y="250952"/>
            <a:ext cx="8980677" cy="276999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09625"/>
            <a:ext cx="8694420" cy="5288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Carlito"/>
                <a:cs typeface="Carlito"/>
              </a:rPr>
              <a:t>FACTOR</a:t>
            </a:r>
            <a:r>
              <a:rPr sz="1800" b="1" spc="-15" dirty="0">
                <a:solidFill>
                  <a:srgbClr val="990000"/>
                </a:solidFill>
                <a:latin typeface="Carlito"/>
                <a:cs typeface="Carlito"/>
              </a:rPr>
              <a:t> </a:t>
            </a:r>
            <a:r>
              <a:rPr sz="1800" b="1" spc="-25" dirty="0">
                <a:solidFill>
                  <a:srgbClr val="990000"/>
                </a:solidFill>
                <a:latin typeface="Carlito"/>
                <a:cs typeface="Carlito"/>
              </a:rPr>
              <a:t>ANALYSIS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1800" dirty="0">
              <a:latin typeface="Carlito"/>
              <a:cs typeface="Carlito"/>
            </a:endParaRPr>
          </a:p>
          <a:p>
            <a:pPr marL="686435" indent="-206375">
              <a:lnSpc>
                <a:spcPct val="100000"/>
              </a:lnSpc>
              <a:spcBef>
                <a:spcPts val="1395"/>
              </a:spcBef>
              <a:buChar char="•"/>
              <a:tabLst>
                <a:tab pos="687070" algn="l"/>
              </a:tabLst>
            </a:pPr>
            <a:r>
              <a:rPr sz="1800" spc="-5" dirty="0">
                <a:latin typeface="Arial"/>
                <a:cs typeface="Arial"/>
              </a:rPr>
              <a:t>Many </a:t>
            </a:r>
            <a:r>
              <a:rPr sz="1800" dirty="0">
                <a:latin typeface="Arial"/>
                <a:cs typeface="Arial"/>
              </a:rPr>
              <a:t>times </a:t>
            </a:r>
            <a:r>
              <a:rPr sz="1800" spc="-5" dirty="0">
                <a:latin typeface="Arial"/>
                <a:cs typeface="Arial"/>
              </a:rPr>
              <a:t>it </a:t>
            </a:r>
            <a:r>
              <a:rPr sz="1800" dirty="0">
                <a:latin typeface="Arial"/>
                <a:cs typeface="Arial"/>
              </a:rPr>
              <a:t>may </a:t>
            </a:r>
            <a:r>
              <a:rPr sz="1800" spc="-5" dirty="0">
                <a:latin typeface="Arial"/>
                <a:cs typeface="Arial"/>
              </a:rPr>
              <a:t>not be possible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measure some</a:t>
            </a:r>
            <a:r>
              <a:rPr lang="en-US" sz="1800" spc="-5" dirty="0">
                <a:latin typeface="Arial"/>
                <a:cs typeface="Arial"/>
              </a:rPr>
              <a:t> 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concepts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directly</a:t>
            </a:r>
            <a:endParaRPr sz="1800" dirty="0">
              <a:latin typeface="Arial"/>
              <a:cs typeface="Arial"/>
            </a:endParaRPr>
          </a:p>
          <a:p>
            <a:pPr marL="660400" marR="34925" indent="-180340" algn="just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25170" algn="l"/>
              </a:tabLst>
            </a:pPr>
            <a:r>
              <a:rPr dirty="0"/>
              <a:t>	</a:t>
            </a:r>
            <a:r>
              <a:rPr sz="1800" spc="-5" dirty="0">
                <a:latin typeface="Arial"/>
                <a:cs typeface="Arial"/>
              </a:rPr>
              <a:t>Such cases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concepts </a:t>
            </a:r>
            <a:r>
              <a:rPr sz="1800" dirty="0">
                <a:latin typeface="Arial"/>
                <a:cs typeface="Arial"/>
              </a:rPr>
              <a:t>are </a:t>
            </a:r>
            <a:r>
              <a:rPr sz="1800" spc="-5" dirty="0">
                <a:latin typeface="Arial"/>
                <a:cs typeface="Arial"/>
              </a:rPr>
              <a:t>examined </a:t>
            </a:r>
            <a:r>
              <a:rPr sz="1800" dirty="0">
                <a:latin typeface="Arial"/>
                <a:cs typeface="Arial"/>
              </a:rPr>
              <a:t>indirectly by collecting </a:t>
            </a:r>
            <a:r>
              <a:rPr sz="1800" spc="-5" dirty="0">
                <a:latin typeface="Arial"/>
                <a:cs typeface="Arial"/>
              </a:rPr>
              <a:t>information </a:t>
            </a:r>
            <a:r>
              <a:rPr sz="1800" spc="-10" dirty="0">
                <a:latin typeface="Arial"/>
                <a:cs typeface="Arial"/>
              </a:rPr>
              <a:t>on  </a:t>
            </a:r>
            <a:r>
              <a:rPr sz="1800" spc="-5" dirty="0">
                <a:latin typeface="Arial"/>
                <a:cs typeface="Arial"/>
              </a:rPr>
              <a:t>variables </a:t>
            </a:r>
            <a:r>
              <a:rPr sz="1800" spc="-10" dirty="0">
                <a:latin typeface="Arial"/>
                <a:cs typeface="Arial"/>
              </a:rPr>
              <a:t>which </a:t>
            </a:r>
            <a:r>
              <a:rPr sz="1800" spc="-5" dirty="0">
                <a:latin typeface="Arial"/>
                <a:cs typeface="Arial"/>
              </a:rPr>
              <a:t>can be </a:t>
            </a:r>
            <a:r>
              <a:rPr sz="1800" dirty="0">
                <a:latin typeface="Arial"/>
                <a:cs typeface="Arial"/>
              </a:rPr>
              <a:t>directly measurable </a:t>
            </a:r>
            <a:r>
              <a:rPr sz="1800" spc="-5" dirty="0">
                <a:latin typeface="Arial"/>
                <a:cs typeface="Arial"/>
              </a:rPr>
              <a:t>and assumed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be indicators </a:t>
            </a:r>
            <a:r>
              <a:rPr sz="1800" spc="-10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the concepts of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interest.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  <a:p>
            <a:pPr marL="512445">
              <a:lnSpc>
                <a:spcPct val="100000"/>
              </a:lnSpc>
              <a:spcBef>
                <a:spcPts val="1605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endParaRPr sz="1800" dirty="0">
              <a:latin typeface="Arial"/>
              <a:cs typeface="Arial"/>
            </a:endParaRPr>
          </a:p>
          <a:p>
            <a:pPr marL="512445">
              <a:lnSpc>
                <a:spcPct val="100000"/>
              </a:lnSpc>
              <a:tabLst>
                <a:tab pos="4230370" algn="l"/>
              </a:tabLst>
            </a:pP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difficult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conclude a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student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is	interested in science or </a:t>
            </a:r>
            <a:r>
              <a:rPr sz="1800" dirty="0">
                <a:latin typeface="Arial"/>
                <a:cs typeface="Arial"/>
              </a:rPr>
              <a:t>arts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directly.</a:t>
            </a:r>
            <a:endParaRPr sz="1800" dirty="0">
              <a:latin typeface="Arial"/>
              <a:cs typeface="Arial"/>
            </a:endParaRPr>
          </a:p>
          <a:p>
            <a:pPr marL="512445" marR="14922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students scores on science subjects or </a:t>
            </a:r>
            <a:r>
              <a:rPr sz="1800" dirty="0">
                <a:latin typeface="Arial"/>
                <a:cs typeface="Arial"/>
              </a:rPr>
              <a:t>arts </a:t>
            </a:r>
            <a:r>
              <a:rPr sz="1800" spc="-5" dirty="0">
                <a:latin typeface="Arial"/>
                <a:cs typeface="Arial"/>
              </a:rPr>
              <a:t>subjects </a:t>
            </a:r>
            <a:r>
              <a:rPr sz="1800" spc="-10" dirty="0">
                <a:latin typeface="Arial"/>
                <a:cs typeface="Arial"/>
              </a:rPr>
              <a:t>can </a:t>
            </a:r>
            <a:r>
              <a:rPr sz="1800" spc="-5" dirty="0">
                <a:latin typeface="Arial"/>
                <a:cs typeface="Arial"/>
              </a:rPr>
              <a:t>be an indicator  </a:t>
            </a:r>
            <a:r>
              <a:rPr sz="1800" dirty="0">
                <a:latin typeface="Arial"/>
                <a:cs typeface="Arial"/>
              </a:rPr>
              <a:t>for the </a:t>
            </a:r>
            <a:r>
              <a:rPr sz="1800" spc="-5" dirty="0">
                <a:latin typeface="Arial"/>
                <a:cs typeface="Arial"/>
              </a:rPr>
              <a:t>students interest in science or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arts.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50" dirty="0">
              <a:latin typeface="Arial"/>
              <a:cs typeface="Arial"/>
            </a:endParaRPr>
          </a:p>
          <a:p>
            <a:pPr marL="690880" marR="5715" indent="-178435" algn="just">
              <a:lnSpc>
                <a:spcPct val="100000"/>
              </a:lnSpc>
              <a:buChar char="•"/>
              <a:tabLst>
                <a:tab pos="691515" algn="l"/>
              </a:tabLst>
            </a:pPr>
            <a:r>
              <a:rPr sz="1800" spc="-5" dirty="0">
                <a:latin typeface="Arial"/>
                <a:cs typeface="Arial"/>
              </a:rPr>
              <a:t>Concepts </a:t>
            </a:r>
            <a:r>
              <a:rPr sz="1800" spc="-10" dirty="0">
                <a:latin typeface="Arial"/>
                <a:cs typeface="Arial"/>
              </a:rPr>
              <a:t>which </a:t>
            </a:r>
            <a:r>
              <a:rPr sz="1800" spc="-5" dirty="0">
                <a:latin typeface="Arial"/>
                <a:cs typeface="Arial"/>
              </a:rPr>
              <a:t>cannot be </a:t>
            </a:r>
            <a:r>
              <a:rPr sz="1800" dirty="0">
                <a:latin typeface="Arial"/>
                <a:cs typeface="Arial"/>
              </a:rPr>
              <a:t>measured directly are </a:t>
            </a:r>
            <a:r>
              <a:rPr sz="1800" spc="-5" dirty="0">
                <a:latin typeface="Arial"/>
                <a:cs typeface="Arial"/>
              </a:rPr>
              <a:t>called latent variables </a:t>
            </a:r>
            <a:r>
              <a:rPr sz="1800" spc="-10" dirty="0">
                <a:latin typeface="Arial"/>
                <a:cs typeface="Arial"/>
              </a:rPr>
              <a:t>or  </a:t>
            </a:r>
            <a:r>
              <a:rPr sz="1800" dirty="0">
                <a:latin typeface="Arial"/>
                <a:cs typeface="Arial"/>
              </a:rPr>
              <a:t>factors</a:t>
            </a:r>
          </a:p>
          <a:p>
            <a:pPr marL="692150" marR="5080" indent="-180340" algn="just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752475" algn="l"/>
              </a:tabLst>
            </a:pPr>
            <a:r>
              <a:rPr dirty="0"/>
              <a:t>	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variables which can </a:t>
            </a:r>
            <a:r>
              <a:rPr sz="1800" dirty="0">
                <a:latin typeface="Arial"/>
                <a:cs typeface="Arial"/>
              </a:rPr>
              <a:t>be </a:t>
            </a:r>
            <a:r>
              <a:rPr sz="1800" spc="-5" dirty="0">
                <a:latin typeface="Arial"/>
                <a:cs typeface="Arial"/>
              </a:rPr>
              <a:t>directly </a:t>
            </a:r>
            <a:r>
              <a:rPr sz="1800" dirty="0">
                <a:latin typeface="Arial"/>
                <a:cs typeface="Arial"/>
              </a:rPr>
              <a:t>measured </a:t>
            </a:r>
            <a:r>
              <a:rPr sz="1800" spc="-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related to </a:t>
            </a:r>
            <a:r>
              <a:rPr sz="1800" spc="-5" dirty="0">
                <a:latin typeface="Arial"/>
                <a:cs typeface="Arial"/>
              </a:rPr>
              <a:t>latent variables  are called manifest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24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61" y="250952"/>
            <a:ext cx="8980677" cy="276999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18769"/>
            <a:ext cx="8557260" cy="5520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369570" marR="12065">
              <a:lnSpc>
                <a:spcPct val="100000"/>
              </a:lnSpc>
              <a:spcBef>
                <a:spcPts val="1220"/>
              </a:spcBef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method of analysis </a:t>
            </a:r>
            <a:r>
              <a:rPr sz="1800" dirty="0">
                <a:latin typeface="Arial"/>
                <a:cs typeface="Arial"/>
              </a:rPr>
              <a:t>to uncover the </a:t>
            </a:r>
            <a:r>
              <a:rPr sz="1800" spc="-5" dirty="0">
                <a:latin typeface="Arial"/>
                <a:cs typeface="Arial"/>
              </a:rPr>
              <a:t>relationship between latent </a:t>
            </a:r>
            <a:r>
              <a:rPr sz="1800" dirty="0">
                <a:latin typeface="Arial"/>
                <a:cs typeface="Arial"/>
              </a:rPr>
              <a:t>variables </a:t>
            </a:r>
            <a:r>
              <a:rPr sz="1800" spc="-5" dirty="0">
                <a:latin typeface="Arial"/>
                <a:cs typeface="Arial"/>
              </a:rPr>
              <a:t>and  manifest variables is </a:t>
            </a:r>
            <a:r>
              <a:rPr sz="1800" dirty="0">
                <a:latin typeface="Arial"/>
                <a:cs typeface="Arial"/>
              </a:rPr>
              <a:t>factor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369570" marR="1079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method is based on </a:t>
            </a:r>
            <a:r>
              <a:rPr sz="1800" dirty="0">
                <a:latin typeface="Arial"/>
                <a:cs typeface="Arial"/>
              </a:rPr>
              <a:t>multiple regression, </a:t>
            </a:r>
            <a:r>
              <a:rPr sz="1800" spc="-5" dirty="0">
                <a:latin typeface="Arial"/>
                <a:cs typeface="Arial"/>
              </a:rPr>
              <a:t>except </a:t>
            </a:r>
            <a:r>
              <a:rPr sz="1800" dirty="0">
                <a:latin typeface="Arial"/>
                <a:cs typeface="Arial"/>
              </a:rPr>
              <a:t>in factor </a:t>
            </a:r>
            <a:r>
              <a:rPr sz="1800" spc="-5" dirty="0">
                <a:latin typeface="Arial"/>
                <a:cs typeface="Arial"/>
              </a:rPr>
              <a:t>analysis manifest  variables is regressed on unobservable latent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 marL="512445" marR="2470150" indent="-71755">
              <a:lnSpc>
                <a:spcPct val="208300"/>
              </a:lnSpc>
              <a:spcBef>
                <a:spcPts val="440"/>
              </a:spcBef>
              <a:tabLst>
                <a:tab pos="4771390" algn="l"/>
              </a:tabLst>
            </a:pPr>
            <a:r>
              <a:rPr sz="1800" spc="-8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Factor</a:t>
            </a:r>
            <a:r>
              <a:rPr sz="18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si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-15" dirty="0">
                <a:latin typeface="Arial"/>
                <a:cs typeface="Arial"/>
              </a:rPr>
              <a:t>x</a:t>
            </a:r>
            <a:r>
              <a:rPr sz="1800" spc="-5" dirty="0">
                <a:latin typeface="Arial"/>
                <a:cs typeface="Arial"/>
              </a:rPr>
              <a:t>p</a:t>
            </a:r>
            <a:r>
              <a:rPr sz="1800" spc="-15" dirty="0">
                <a:latin typeface="Arial"/>
                <a:cs typeface="Arial"/>
              </a:rPr>
              <a:t>l</a:t>
            </a:r>
            <a:r>
              <a:rPr sz="1800" spc="-5" dirty="0">
                <a:latin typeface="Arial"/>
                <a:cs typeface="Arial"/>
              </a:rPr>
              <a:t>or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tory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Co</a:t>
            </a:r>
            <a:r>
              <a:rPr sz="1800" spc="-1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firmatory 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Exploratory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Factor</a:t>
            </a:r>
            <a:r>
              <a:rPr sz="1800" spc="-8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512445" marR="73025" algn="just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Used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investigate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relationship between factors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manifest variables  without making any </a:t>
            </a:r>
            <a:r>
              <a:rPr sz="1800" dirty="0">
                <a:latin typeface="Arial"/>
                <a:cs typeface="Arial"/>
              </a:rPr>
              <a:t>assumption </a:t>
            </a:r>
            <a:r>
              <a:rPr sz="1800" spc="-5" dirty="0">
                <a:latin typeface="Arial"/>
                <a:cs typeface="Arial"/>
              </a:rPr>
              <a:t>about which manifest variables is </a:t>
            </a:r>
            <a:r>
              <a:rPr sz="1800" dirty="0">
                <a:latin typeface="Arial"/>
                <a:cs typeface="Arial"/>
              </a:rPr>
              <a:t>related to  </a:t>
            </a:r>
            <a:r>
              <a:rPr sz="1800" spc="-15" dirty="0">
                <a:latin typeface="Arial"/>
                <a:cs typeface="Arial"/>
              </a:rPr>
              <a:t>which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Arial"/>
              <a:cs typeface="Arial"/>
            </a:endParaRPr>
          </a:p>
          <a:p>
            <a:pPr marL="584200" algn="just">
              <a:lnSpc>
                <a:spcPct val="100000"/>
              </a:lnSpc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Confirmatory Factor</a:t>
            </a:r>
            <a:r>
              <a:rPr sz="1800" spc="-9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  <a:p>
            <a:pPr marL="584200" marR="5080" algn="just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Used </a:t>
            </a:r>
            <a:r>
              <a:rPr sz="1800" dirty="0">
                <a:latin typeface="Arial"/>
                <a:cs typeface="Arial"/>
              </a:rPr>
              <a:t>to test </a:t>
            </a:r>
            <a:r>
              <a:rPr sz="1800" spc="-5" dirty="0">
                <a:latin typeface="Arial"/>
                <a:cs typeface="Arial"/>
              </a:rPr>
              <a:t>whether a specific </a:t>
            </a:r>
            <a:r>
              <a:rPr sz="1800" dirty="0">
                <a:latin typeface="Arial"/>
                <a:cs typeface="Arial"/>
              </a:rPr>
              <a:t>factor </a:t>
            </a:r>
            <a:r>
              <a:rPr sz="1800" spc="-5" dirty="0">
                <a:latin typeface="Arial"/>
                <a:cs typeface="Arial"/>
              </a:rPr>
              <a:t>model postulated a priori </a:t>
            </a:r>
            <a:r>
              <a:rPr sz="1800" dirty="0">
                <a:latin typeface="Arial"/>
                <a:cs typeface="Arial"/>
              </a:rPr>
              <a:t>on the  </a:t>
            </a:r>
            <a:r>
              <a:rPr sz="1800" spc="-5" dirty="0">
                <a:latin typeface="Arial"/>
                <a:cs typeface="Arial"/>
              </a:rPr>
              <a:t>relationship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5" dirty="0">
                <a:latin typeface="Arial"/>
                <a:cs typeface="Arial"/>
              </a:rPr>
              <a:t>and manifest variables is correct or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25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18769"/>
            <a:ext cx="8552180" cy="307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369570">
              <a:lnSpc>
                <a:spcPct val="100000"/>
              </a:lnSpc>
              <a:spcBef>
                <a:spcPts val="1220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Factor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analysis</a:t>
            </a:r>
            <a:r>
              <a:rPr sz="1800" spc="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369570" marR="508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regression model linking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manifest variables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set </a:t>
            </a:r>
            <a:r>
              <a:rPr sz="1800" spc="-5" dirty="0">
                <a:latin typeface="Arial"/>
                <a:cs typeface="Arial"/>
              </a:rPr>
              <a:t>of unobserved (or  unobservable) latent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 marL="369570">
              <a:lnSpc>
                <a:spcPct val="100000"/>
              </a:lnSpc>
              <a:spcBef>
                <a:spcPts val="1080"/>
              </a:spcBef>
              <a:tabLst>
                <a:tab pos="5538470" algn="l"/>
              </a:tabLst>
            </a:pPr>
            <a:r>
              <a:rPr sz="1800" spc="-5" dirty="0">
                <a:latin typeface="Arial"/>
                <a:cs typeface="Arial"/>
              </a:rPr>
              <a:t>Assumes that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observed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relationships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between	</a:t>
            </a:r>
            <a:r>
              <a:rPr sz="1800" dirty="0">
                <a:latin typeface="Arial"/>
                <a:cs typeface="Arial"/>
              </a:rPr>
              <a:t>the manifest </a:t>
            </a:r>
            <a:r>
              <a:rPr sz="1800" spc="-5" dirty="0">
                <a:latin typeface="Arial"/>
                <a:cs typeface="Arial"/>
              </a:rPr>
              <a:t>variables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  <a:p>
            <a:pPr marL="36957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result of relationship </a:t>
            </a:r>
            <a:r>
              <a:rPr sz="1800" spc="-15" dirty="0">
                <a:latin typeface="Arial"/>
                <a:cs typeface="Arial"/>
              </a:rPr>
              <a:t>between </a:t>
            </a:r>
            <a:r>
              <a:rPr sz="1800" spc="-5" dirty="0">
                <a:latin typeface="Arial"/>
                <a:cs typeface="Arial"/>
              </a:rPr>
              <a:t>manifest variables </a:t>
            </a:r>
            <a:r>
              <a:rPr sz="1800" spc="-1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latent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 marL="369570" marR="69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relationship between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manifest variables is measured using covariance  </a:t>
            </a:r>
            <a:r>
              <a:rPr sz="1800" dirty="0">
                <a:latin typeface="Arial"/>
                <a:cs typeface="Arial"/>
              </a:rPr>
              <a:t>matrix </a:t>
            </a:r>
            <a:r>
              <a:rPr sz="1800" spc="-5" dirty="0">
                <a:latin typeface="Arial"/>
                <a:cs typeface="Arial"/>
              </a:rPr>
              <a:t>or correlation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matrix.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26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40" y="718769"/>
            <a:ext cx="8787130" cy="571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420370" algn="just">
              <a:lnSpc>
                <a:spcPct val="100000"/>
              </a:lnSpc>
              <a:spcBef>
                <a:spcPts val="1220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Factor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analysis</a:t>
            </a:r>
            <a:r>
              <a:rPr sz="1800" spc="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420370" marR="189865" algn="just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Let a </a:t>
            </a:r>
            <a:r>
              <a:rPr sz="1800" dirty="0">
                <a:latin typeface="Arial"/>
                <a:cs typeface="Arial"/>
              </a:rPr>
              <a:t>set </a:t>
            </a:r>
            <a:r>
              <a:rPr sz="1800" spc="-5" dirty="0">
                <a:latin typeface="Arial"/>
                <a:cs typeface="Arial"/>
              </a:rPr>
              <a:t>of observed or </a:t>
            </a:r>
            <a:r>
              <a:rPr sz="1800" dirty="0">
                <a:latin typeface="Arial"/>
                <a:cs typeface="Arial"/>
              </a:rPr>
              <a:t>manifest </a:t>
            </a:r>
            <a:r>
              <a:rPr sz="1800" spc="-5" dirty="0">
                <a:latin typeface="Arial"/>
                <a:cs typeface="Arial"/>
              </a:rPr>
              <a:t>variables </a:t>
            </a:r>
            <a:r>
              <a:rPr sz="1800" dirty="0">
                <a:latin typeface="Arial"/>
                <a:cs typeface="Arial"/>
              </a:rPr>
              <a:t>x = </a:t>
            </a:r>
            <a:r>
              <a:rPr sz="1800" spc="-5" dirty="0">
                <a:latin typeface="Arial"/>
                <a:cs typeface="Arial"/>
              </a:rPr>
              <a:t>(x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 x</a:t>
            </a:r>
            <a:r>
              <a:rPr sz="1800" spc="-7" baseline="-20833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dirty="0">
                <a:latin typeface="Arial"/>
                <a:cs typeface="Arial"/>
              </a:rPr>
              <a:t>- - -,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q</a:t>
            </a:r>
            <a:r>
              <a:rPr sz="1800" spc="-10" dirty="0">
                <a:latin typeface="Arial"/>
                <a:cs typeface="Arial"/>
              </a:rPr>
              <a:t>) </a:t>
            </a:r>
            <a:r>
              <a:rPr sz="1800" dirty="0">
                <a:latin typeface="Arial"/>
                <a:cs typeface="Arial"/>
              </a:rPr>
              <a:t>be </a:t>
            </a:r>
            <a:r>
              <a:rPr sz="1800" spc="-5" dirty="0">
                <a:latin typeface="Arial"/>
                <a:cs typeface="Arial"/>
              </a:rPr>
              <a:t>linked </a:t>
            </a:r>
            <a:r>
              <a:rPr sz="1800" dirty="0">
                <a:latin typeface="Arial"/>
                <a:cs typeface="Arial"/>
              </a:rPr>
              <a:t>to k  </a:t>
            </a:r>
            <a:r>
              <a:rPr sz="1800" spc="-5" dirty="0">
                <a:latin typeface="Arial"/>
                <a:cs typeface="Arial"/>
              </a:rPr>
              <a:t>unobserved latent variables </a:t>
            </a:r>
            <a:r>
              <a:rPr sz="1800" dirty="0">
                <a:latin typeface="Arial"/>
                <a:cs typeface="Arial"/>
              </a:rPr>
              <a:t>or </a:t>
            </a:r>
            <a:r>
              <a:rPr sz="1800" spc="-5" dirty="0">
                <a:latin typeface="Arial"/>
                <a:cs typeface="Arial"/>
              </a:rPr>
              <a:t>common </a:t>
            </a:r>
            <a:r>
              <a:rPr sz="1800" dirty="0">
                <a:latin typeface="Arial"/>
                <a:cs typeface="Arial"/>
              </a:rPr>
              <a:t>factors f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 </a:t>
            </a:r>
            <a:r>
              <a:rPr sz="1800" spc="-5" dirty="0">
                <a:latin typeface="Arial"/>
                <a:cs typeface="Arial"/>
              </a:rPr>
              <a:t>f</a:t>
            </a:r>
            <a:r>
              <a:rPr sz="1800" spc="-7" baseline="-20833" dirty="0"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dirty="0">
                <a:latin typeface="Arial"/>
                <a:cs typeface="Arial"/>
              </a:rPr>
              <a:t>- - -, </a:t>
            </a:r>
            <a:r>
              <a:rPr sz="1800" spc="-5" dirty="0">
                <a:latin typeface="Arial"/>
                <a:cs typeface="Arial"/>
              </a:rPr>
              <a:t>f</a:t>
            </a:r>
            <a:r>
              <a:rPr sz="1800" spc="-7" baseline="-20833" dirty="0">
                <a:latin typeface="Arial"/>
                <a:cs typeface="Arial"/>
              </a:rPr>
              <a:t>k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spc="-10" dirty="0">
                <a:latin typeface="Arial"/>
                <a:cs typeface="Arial"/>
              </a:rPr>
              <a:t>where </a:t>
            </a:r>
            <a:r>
              <a:rPr sz="1800" dirty="0">
                <a:latin typeface="Arial"/>
                <a:cs typeface="Arial"/>
              </a:rPr>
              <a:t>k &lt; </a:t>
            </a:r>
            <a:r>
              <a:rPr sz="1800" spc="-5" dirty="0">
                <a:latin typeface="Arial"/>
                <a:cs typeface="Arial"/>
              </a:rPr>
              <a:t>q </a:t>
            </a:r>
            <a:r>
              <a:rPr sz="1800" dirty="0">
                <a:latin typeface="Arial"/>
                <a:cs typeface="Arial"/>
              </a:rPr>
              <a:t>by the  </a:t>
            </a:r>
            <a:r>
              <a:rPr sz="1800" spc="-5" dirty="0">
                <a:latin typeface="Arial"/>
                <a:cs typeface="Arial"/>
              </a:rPr>
              <a:t>regression model given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2239645">
              <a:lnSpc>
                <a:spcPct val="100000"/>
              </a:lnSpc>
              <a:spcBef>
                <a:spcPts val="5"/>
              </a:spcBef>
            </a:pPr>
            <a:r>
              <a:rPr sz="1750" i="1" spc="-25" dirty="0">
                <a:latin typeface="Times New Roman"/>
                <a:cs typeface="Times New Roman"/>
              </a:rPr>
              <a:t>x</a:t>
            </a:r>
            <a:r>
              <a:rPr sz="1500" spc="-37" baseline="-25000" dirty="0">
                <a:latin typeface="Times New Roman"/>
                <a:cs typeface="Times New Roman"/>
              </a:rPr>
              <a:t>1  </a:t>
            </a:r>
            <a:r>
              <a:rPr sz="1750" spc="35" dirty="0">
                <a:latin typeface="Symbol"/>
                <a:cs typeface="Symbol"/>
              </a:rPr>
              <a:t>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Symbol"/>
                <a:cs typeface="Symbol"/>
              </a:rPr>
              <a:t></a:t>
            </a:r>
            <a:r>
              <a:rPr sz="1500" spc="-30" baseline="-25000" dirty="0">
                <a:latin typeface="Times New Roman"/>
                <a:cs typeface="Times New Roman"/>
              </a:rPr>
              <a:t>11 </a:t>
            </a:r>
            <a:r>
              <a:rPr sz="1750" i="1" spc="15" dirty="0">
                <a:latin typeface="Times New Roman"/>
                <a:cs typeface="Times New Roman"/>
              </a:rPr>
              <a:t>f</a:t>
            </a:r>
            <a:r>
              <a:rPr sz="1500" spc="22" baseline="-25000" dirty="0">
                <a:latin typeface="Times New Roman"/>
                <a:cs typeface="Times New Roman"/>
              </a:rPr>
              <a:t>1 </a:t>
            </a:r>
            <a:r>
              <a:rPr sz="1750" spc="35" dirty="0">
                <a:latin typeface="Symbol"/>
                <a:cs typeface="Symbol"/>
              </a:rPr>
              <a:t>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Symbol"/>
                <a:cs typeface="Symbol"/>
              </a:rPr>
              <a:t></a:t>
            </a:r>
            <a:r>
              <a:rPr sz="1500" spc="-30" baseline="-25000" dirty="0">
                <a:latin typeface="Times New Roman"/>
                <a:cs typeface="Times New Roman"/>
              </a:rPr>
              <a:t>12 </a:t>
            </a:r>
            <a:r>
              <a:rPr sz="1750" i="1" spc="65" dirty="0">
                <a:latin typeface="Times New Roman"/>
                <a:cs typeface="Times New Roman"/>
              </a:rPr>
              <a:t>f</a:t>
            </a:r>
            <a:r>
              <a:rPr sz="1500" spc="97" baseline="-25000" dirty="0">
                <a:latin typeface="Times New Roman"/>
                <a:cs typeface="Times New Roman"/>
              </a:rPr>
              <a:t>2 </a:t>
            </a:r>
            <a:r>
              <a:rPr sz="1750" spc="35" dirty="0">
                <a:latin typeface="Symbol"/>
                <a:cs typeface="Symbol"/>
              </a:rPr>
              <a:t>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spc="35" dirty="0">
                <a:latin typeface="Symbol"/>
                <a:cs typeface="Symbol"/>
              </a:rPr>
              <a:t>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spc="35" dirty="0">
                <a:latin typeface="Symbol"/>
                <a:cs typeface="Symbol"/>
              </a:rPr>
              <a:t>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spc="35" dirty="0">
                <a:latin typeface="Symbol"/>
                <a:cs typeface="Symbol"/>
              </a:rPr>
              <a:t>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spc="-15" dirty="0">
                <a:latin typeface="Symbol"/>
                <a:cs typeface="Symbol"/>
              </a:rPr>
              <a:t></a:t>
            </a:r>
            <a:r>
              <a:rPr sz="1850" i="1" spc="-15" dirty="0">
                <a:latin typeface="Symbol"/>
                <a:cs typeface="Symbol"/>
              </a:rPr>
              <a:t></a:t>
            </a:r>
            <a:r>
              <a:rPr sz="1500" spc="-22" baseline="-25000" dirty="0">
                <a:latin typeface="Times New Roman"/>
                <a:cs typeface="Times New Roman"/>
              </a:rPr>
              <a:t>1</a:t>
            </a:r>
            <a:r>
              <a:rPr sz="1500" i="1" spc="-22" baseline="-25000" dirty="0">
                <a:latin typeface="Times New Roman"/>
                <a:cs typeface="Times New Roman"/>
              </a:rPr>
              <a:t>k</a:t>
            </a:r>
            <a:r>
              <a:rPr sz="1500" i="1" spc="330" baseline="-25000" dirty="0">
                <a:latin typeface="Times New Roman"/>
                <a:cs typeface="Times New Roman"/>
              </a:rPr>
              <a:t> </a:t>
            </a:r>
            <a:r>
              <a:rPr sz="1750" i="1" spc="60" dirty="0">
                <a:latin typeface="Times New Roman"/>
                <a:cs typeface="Times New Roman"/>
              </a:rPr>
              <a:t>f</a:t>
            </a:r>
            <a:r>
              <a:rPr sz="1500" i="1" spc="89" baseline="-25000" dirty="0">
                <a:latin typeface="Times New Roman"/>
                <a:cs typeface="Times New Roman"/>
              </a:rPr>
              <a:t>k</a:t>
            </a:r>
            <a:r>
              <a:rPr sz="1500" i="1" spc="555" baseline="-25000" dirty="0">
                <a:latin typeface="Times New Roman"/>
                <a:cs typeface="Times New Roman"/>
              </a:rPr>
              <a:t> </a:t>
            </a:r>
            <a:r>
              <a:rPr sz="1750" spc="35" dirty="0">
                <a:latin typeface="Symbol"/>
                <a:cs typeface="Symbol"/>
              </a:rPr>
              <a:t></a:t>
            </a:r>
            <a:r>
              <a:rPr sz="1750" spc="-315" dirty="0">
                <a:latin typeface="Times New Roman"/>
                <a:cs typeface="Times New Roman"/>
              </a:rPr>
              <a:t> </a:t>
            </a:r>
            <a:r>
              <a:rPr sz="1850" i="1" spc="-45" dirty="0">
                <a:latin typeface="Symbol"/>
                <a:cs typeface="Symbol"/>
              </a:rPr>
              <a:t></a:t>
            </a:r>
            <a:r>
              <a:rPr sz="1500" spc="-67" baseline="-25000" dirty="0">
                <a:latin typeface="Times New Roman"/>
                <a:cs typeface="Times New Roman"/>
              </a:rPr>
              <a:t>1</a:t>
            </a:r>
            <a:endParaRPr sz="1500" baseline="-25000">
              <a:latin typeface="Times New Roman"/>
              <a:cs typeface="Times New Roman"/>
            </a:endParaRPr>
          </a:p>
          <a:p>
            <a:pPr marL="2193925">
              <a:lnSpc>
                <a:spcPct val="100000"/>
              </a:lnSpc>
              <a:spcBef>
                <a:spcPts val="1150"/>
              </a:spcBef>
            </a:pPr>
            <a:r>
              <a:rPr sz="1750" i="1" spc="20" dirty="0">
                <a:latin typeface="Times New Roman"/>
                <a:cs typeface="Times New Roman"/>
              </a:rPr>
              <a:t>x</a:t>
            </a:r>
            <a:r>
              <a:rPr sz="1500" spc="30" baseline="-25000" dirty="0">
                <a:latin typeface="Times New Roman"/>
                <a:cs typeface="Times New Roman"/>
              </a:rPr>
              <a:t>2  </a:t>
            </a:r>
            <a:r>
              <a:rPr sz="1750" spc="30" dirty="0">
                <a:latin typeface="Symbol"/>
                <a:cs typeface="Symbol"/>
              </a:rPr>
              <a:t>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850" i="1" spc="10" dirty="0">
                <a:latin typeface="Symbol"/>
                <a:cs typeface="Symbol"/>
              </a:rPr>
              <a:t></a:t>
            </a:r>
            <a:r>
              <a:rPr sz="1500" spc="15" baseline="-25000" dirty="0">
                <a:latin typeface="Times New Roman"/>
                <a:cs typeface="Times New Roman"/>
              </a:rPr>
              <a:t>21 </a:t>
            </a:r>
            <a:r>
              <a:rPr sz="1750" i="1" spc="15" dirty="0">
                <a:latin typeface="Times New Roman"/>
                <a:cs typeface="Times New Roman"/>
              </a:rPr>
              <a:t>f</a:t>
            </a:r>
            <a:r>
              <a:rPr sz="1500" spc="22" baseline="-25000" dirty="0">
                <a:latin typeface="Times New Roman"/>
                <a:cs typeface="Times New Roman"/>
              </a:rPr>
              <a:t>1 </a:t>
            </a:r>
            <a:r>
              <a:rPr sz="1750" spc="30" dirty="0">
                <a:latin typeface="Symbol"/>
                <a:cs typeface="Symbol"/>
              </a:rPr>
              <a:t>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850" i="1" spc="10" dirty="0">
                <a:latin typeface="Symbol"/>
                <a:cs typeface="Symbol"/>
              </a:rPr>
              <a:t></a:t>
            </a:r>
            <a:r>
              <a:rPr sz="1500" spc="15" baseline="-25000" dirty="0">
                <a:latin typeface="Times New Roman"/>
                <a:cs typeface="Times New Roman"/>
              </a:rPr>
              <a:t>22 </a:t>
            </a:r>
            <a:r>
              <a:rPr sz="1750" i="1" spc="65" dirty="0">
                <a:latin typeface="Times New Roman"/>
                <a:cs typeface="Times New Roman"/>
              </a:rPr>
              <a:t>f</a:t>
            </a:r>
            <a:r>
              <a:rPr sz="1500" spc="97" baseline="-25000" dirty="0">
                <a:latin typeface="Times New Roman"/>
                <a:cs typeface="Times New Roman"/>
              </a:rPr>
              <a:t>2 </a:t>
            </a:r>
            <a:r>
              <a:rPr sz="1750" spc="30" dirty="0">
                <a:latin typeface="Symbol"/>
                <a:cs typeface="Symbol"/>
              </a:rPr>
              <a:t>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spc="30" dirty="0">
                <a:latin typeface="Symbol"/>
                <a:cs typeface="Symbol"/>
              </a:rPr>
              <a:t>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spc="30" dirty="0">
                <a:latin typeface="Symbol"/>
                <a:cs typeface="Symbol"/>
              </a:rPr>
              <a:t>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spc="30" dirty="0">
                <a:latin typeface="Symbol"/>
                <a:cs typeface="Symbol"/>
              </a:rPr>
              <a:t></a:t>
            </a:r>
            <a:r>
              <a:rPr sz="1750" spc="30" dirty="0">
                <a:latin typeface="Times New Roman"/>
                <a:cs typeface="Times New Roman"/>
              </a:rPr>
              <a:t> </a:t>
            </a:r>
            <a:r>
              <a:rPr sz="1750" spc="25" dirty="0">
                <a:latin typeface="Symbol"/>
                <a:cs typeface="Symbol"/>
              </a:rPr>
              <a:t></a:t>
            </a:r>
            <a:r>
              <a:rPr sz="1850" i="1" spc="25" dirty="0">
                <a:latin typeface="Symbol"/>
                <a:cs typeface="Symbol"/>
              </a:rPr>
              <a:t></a:t>
            </a:r>
            <a:r>
              <a:rPr sz="1500" spc="37" baseline="-25000" dirty="0">
                <a:latin typeface="Times New Roman"/>
                <a:cs typeface="Times New Roman"/>
              </a:rPr>
              <a:t>2</a:t>
            </a:r>
            <a:r>
              <a:rPr sz="1500" i="1" spc="37" baseline="-25000" dirty="0">
                <a:latin typeface="Times New Roman"/>
                <a:cs typeface="Times New Roman"/>
              </a:rPr>
              <a:t>k </a:t>
            </a:r>
            <a:r>
              <a:rPr sz="1750" i="1" spc="60" dirty="0">
                <a:latin typeface="Times New Roman"/>
                <a:cs typeface="Times New Roman"/>
              </a:rPr>
              <a:t>f</a:t>
            </a:r>
            <a:r>
              <a:rPr sz="1500" i="1" spc="89" baseline="-25000" dirty="0">
                <a:latin typeface="Times New Roman"/>
                <a:cs typeface="Times New Roman"/>
              </a:rPr>
              <a:t>k  </a:t>
            </a:r>
            <a:r>
              <a:rPr sz="1750" spc="30" dirty="0">
                <a:latin typeface="Symbol"/>
                <a:cs typeface="Symbol"/>
              </a:rPr>
              <a:t></a:t>
            </a:r>
            <a:r>
              <a:rPr sz="1750" spc="-10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Symbol"/>
                <a:cs typeface="Symbol"/>
              </a:rPr>
              <a:t></a:t>
            </a:r>
            <a:r>
              <a:rPr sz="1500" baseline="-25000" dirty="0">
                <a:latin typeface="Times New Roman"/>
                <a:cs typeface="Times New Roman"/>
              </a:rPr>
              <a:t>2</a:t>
            </a:r>
            <a:endParaRPr sz="1500" baseline="-25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22783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- - - - - - - - - - - - - - - - - - - - - -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  <a:p>
            <a:pPr marL="22783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- - - - - - - -- - - - - - - - - - - - - -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  <a:p>
            <a:pPr marL="2303145">
              <a:lnSpc>
                <a:spcPct val="100000"/>
              </a:lnSpc>
              <a:spcBef>
                <a:spcPts val="1435"/>
              </a:spcBef>
            </a:pPr>
            <a:r>
              <a:rPr sz="1800" i="1" spc="10" dirty="0">
                <a:latin typeface="Times New Roman"/>
                <a:cs typeface="Times New Roman"/>
              </a:rPr>
              <a:t>x</a:t>
            </a:r>
            <a:r>
              <a:rPr sz="1575" i="1" spc="15" baseline="-23809" dirty="0">
                <a:latin typeface="Times New Roman"/>
                <a:cs typeface="Times New Roman"/>
              </a:rPr>
              <a:t>q </a:t>
            </a:r>
            <a:r>
              <a:rPr sz="1800" spc="35" dirty="0">
                <a:latin typeface="Symbol"/>
                <a:cs typeface="Symbol"/>
              </a:rPr>
              <a:t>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900" i="1" spc="-25" dirty="0">
                <a:latin typeface="Symbol"/>
                <a:cs typeface="Symbol"/>
              </a:rPr>
              <a:t></a:t>
            </a:r>
            <a:r>
              <a:rPr sz="1575" i="1" spc="-37" baseline="-23809" dirty="0">
                <a:latin typeface="Times New Roman"/>
                <a:cs typeface="Times New Roman"/>
              </a:rPr>
              <a:t>q</a:t>
            </a:r>
            <a:r>
              <a:rPr sz="1575" spc="-37" baseline="-23809" dirty="0">
                <a:latin typeface="Times New Roman"/>
                <a:cs typeface="Times New Roman"/>
              </a:rPr>
              <a:t>1 </a:t>
            </a:r>
            <a:r>
              <a:rPr sz="1800" i="1" spc="5" dirty="0">
                <a:latin typeface="Times New Roman"/>
                <a:cs typeface="Times New Roman"/>
              </a:rPr>
              <a:t>f</a:t>
            </a:r>
            <a:r>
              <a:rPr sz="1575" spc="7" baseline="-23809" dirty="0">
                <a:latin typeface="Times New Roman"/>
                <a:cs typeface="Times New Roman"/>
              </a:rPr>
              <a:t>1 </a:t>
            </a:r>
            <a:r>
              <a:rPr sz="1800" spc="35" dirty="0">
                <a:latin typeface="Symbol"/>
                <a:cs typeface="Symbol"/>
              </a:rPr>
              <a:t>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900" i="1" spc="5" dirty="0">
                <a:latin typeface="Symbol"/>
                <a:cs typeface="Symbol"/>
              </a:rPr>
              <a:t></a:t>
            </a:r>
            <a:r>
              <a:rPr sz="1575" i="1" spc="7" baseline="-23809" dirty="0">
                <a:latin typeface="Times New Roman"/>
                <a:cs typeface="Times New Roman"/>
              </a:rPr>
              <a:t>q</a:t>
            </a:r>
            <a:r>
              <a:rPr sz="1575" spc="7" baseline="-23809" dirty="0">
                <a:latin typeface="Times New Roman"/>
                <a:cs typeface="Times New Roman"/>
              </a:rPr>
              <a:t>2 </a:t>
            </a:r>
            <a:r>
              <a:rPr sz="1800" i="1" spc="50" dirty="0">
                <a:latin typeface="Times New Roman"/>
                <a:cs typeface="Times New Roman"/>
              </a:rPr>
              <a:t>f</a:t>
            </a:r>
            <a:r>
              <a:rPr sz="1575" spc="75" baseline="-23809" dirty="0">
                <a:latin typeface="Times New Roman"/>
                <a:cs typeface="Times New Roman"/>
              </a:rPr>
              <a:t>2 </a:t>
            </a:r>
            <a:r>
              <a:rPr sz="1800" spc="35" dirty="0">
                <a:latin typeface="Symbol"/>
                <a:cs typeface="Symbol"/>
              </a:rPr>
              <a:t>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Symbol"/>
                <a:cs typeface="Symbol"/>
              </a:rPr>
              <a:t>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Symbol"/>
                <a:cs typeface="Symbol"/>
              </a:rPr>
              <a:t>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Symbol"/>
                <a:cs typeface="Symbol"/>
              </a:rPr>
              <a:t>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Symbol"/>
                <a:cs typeface="Symbol"/>
              </a:rPr>
              <a:t></a:t>
            </a:r>
            <a:r>
              <a:rPr sz="1900" i="1" spc="5" dirty="0">
                <a:latin typeface="Symbol"/>
                <a:cs typeface="Symbol"/>
              </a:rPr>
              <a:t></a:t>
            </a:r>
            <a:r>
              <a:rPr sz="1575" i="1" spc="7" baseline="-23809" dirty="0">
                <a:latin typeface="Times New Roman"/>
                <a:cs typeface="Times New Roman"/>
              </a:rPr>
              <a:t>qk </a:t>
            </a:r>
            <a:r>
              <a:rPr sz="1800" i="1" spc="50" dirty="0">
                <a:latin typeface="Times New Roman"/>
                <a:cs typeface="Times New Roman"/>
              </a:rPr>
              <a:t>f</a:t>
            </a:r>
            <a:r>
              <a:rPr sz="1575" i="1" spc="75" baseline="-23809" dirty="0">
                <a:latin typeface="Times New Roman"/>
                <a:cs typeface="Times New Roman"/>
              </a:rPr>
              <a:t>k </a:t>
            </a:r>
            <a:r>
              <a:rPr sz="1800" spc="35" dirty="0">
                <a:latin typeface="Symbol"/>
                <a:cs typeface="Symbol"/>
              </a:rPr>
              <a:t>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Symbol"/>
                <a:cs typeface="Symbol"/>
              </a:rPr>
              <a:t></a:t>
            </a:r>
            <a:r>
              <a:rPr sz="1575" i="1" spc="-15" baseline="-23809" dirty="0">
                <a:latin typeface="Times New Roman"/>
                <a:cs typeface="Times New Roman"/>
              </a:rPr>
              <a:t>q</a:t>
            </a:r>
            <a:endParaRPr sz="1575" baseline="-23809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>
              <a:latin typeface="Times New Roman"/>
              <a:cs typeface="Times New Roman"/>
            </a:endParaRPr>
          </a:p>
          <a:p>
            <a:pPr marL="42037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Where</a:t>
            </a:r>
            <a:endParaRPr sz="1800">
              <a:latin typeface="Arial"/>
              <a:cs typeface="Arial"/>
            </a:endParaRPr>
          </a:p>
          <a:p>
            <a:pPr marL="420370" marR="431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Symbol"/>
                <a:cs typeface="Symbol"/>
              </a:rPr>
              <a:t></a:t>
            </a:r>
            <a:r>
              <a:rPr sz="1800" spc="-7" baseline="-20833" dirty="0">
                <a:latin typeface="Arial"/>
                <a:cs typeface="Arial"/>
              </a:rPr>
              <a:t>j </a:t>
            </a:r>
            <a:r>
              <a:rPr sz="1800" spc="-5" dirty="0">
                <a:latin typeface="Arial"/>
                <a:cs typeface="Arial"/>
              </a:rPr>
              <a:t>are </a:t>
            </a:r>
            <a:r>
              <a:rPr sz="1800" dirty="0">
                <a:latin typeface="Arial"/>
                <a:cs typeface="Arial"/>
              </a:rPr>
              <a:t>regression </a:t>
            </a:r>
            <a:r>
              <a:rPr sz="1800" spc="-5" dirty="0">
                <a:latin typeface="Arial"/>
                <a:cs typeface="Arial"/>
              </a:rPr>
              <a:t>coefficients of the </a:t>
            </a:r>
            <a:r>
              <a:rPr sz="1800" dirty="0">
                <a:latin typeface="Arial"/>
                <a:cs typeface="Arial"/>
              </a:rPr>
              <a:t>x variables </a:t>
            </a:r>
            <a:r>
              <a:rPr sz="1800" spc="-5" dirty="0">
                <a:latin typeface="Arial"/>
                <a:cs typeface="Arial"/>
              </a:rPr>
              <a:t>on </a:t>
            </a:r>
            <a:r>
              <a:rPr sz="1800" dirty="0">
                <a:latin typeface="Arial"/>
                <a:cs typeface="Arial"/>
              </a:rPr>
              <a:t>the common factors </a:t>
            </a:r>
            <a:r>
              <a:rPr sz="1800" spc="-5" dirty="0">
                <a:latin typeface="Arial"/>
                <a:cs typeface="Arial"/>
              </a:rPr>
              <a:t>known </a:t>
            </a:r>
            <a:r>
              <a:rPr sz="1800" spc="-10" dirty="0">
                <a:latin typeface="Arial"/>
                <a:cs typeface="Arial"/>
              </a:rPr>
              <a:t>as  </a:t>
            </a:r>
            <a:r>
              <a:rPr sz="1800" dirty="0">
                <a:latin typeface="Arial"/>
                <a:cs typeface="Arial"/>
              </a:rPr>
              <a:t>factor</a:t>
            </a:r>
            <a:r>
              <a:rPr sz="1800" spc="-5" dirty="0">
                <a:latin typeface="Arial"/>
                <a:cs typeface="Arial"/>
              </a:rPr>
              <a:t> loadings</a:t>
            </a:r>
            <a:endParaRPr sz="1800">
              <a:latin typeface="Arial"/>
              <a:cs typeface="Arial"/>
            </a:endParaRPr>
          </a:p>
          <a:p>
            <a:pPr marL="420370">
              <a:lnSpc>
                <a:spcPct val="100000"/>
              </a:lnSpc>
            </a:pPr>
            <a:r>
              <a:rPr sz="1800" spc="-15" dirty="0">
                <a:latin typeface="Arial"/>
                <a:cs typeface="Arial"/>
              </a:rPr>
              <a:t>Shows </a:t>
            </a:r>
            <a:r>
              <a:rPr sz="1800" spc="-5" dirty="0">
                <a:latin typeface="Arial"/>
                <a:cs typeface="Arial"/>
              </a:rPr>
              <a:t>how each observed variable </a:t>
            </a:r>
            <a:r>
              <a:rPr sz="1800" spc="-10" dirty="0">
                <a:latin typeface="Arial"/>
                <a:cs typeface="Arial"/>
              </a:rPr>
              <a:t>x</a:t>
            </a:r>
            <a:r>
              <a:rPr sz="1800" spc="-15" baseline="-20833" dirty="0">
                <a:latin typeface="Arial"/>
                <a:cs typeface="Arial"/>
              </a:rPr>
              <a:t>i</a:t>
            </a:r>
            <a:r>
              <a:rPr sz="1800" spc="-10" dirty="0">
                <a:latin typeface="Arial"/>
                <a:cs typeface="Arial"/>
              </a:rPr>
              <a:t>, </a:t>
            </a:r>
            <a:r>
              <a:rPr sz="1800" spc="-5" dirty="0">
                <a:latin typeface="Arial"/>
                <a:cs typeface="Arial"/>
              </a:rPr>
              <a:t>depends on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common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27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9428" y="247903"/>
            <a:ext cx="2962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5" dirty="0">
                <a:solidFill>
                  <a:srgbClr val="CC6600"/>
                </a:solidFill>
                <a:latin typeface="Comic Sans MS"/>
                <a:cs typeface="Comic Sans MS"/>
              </a:rPr>
              <a:t> </a:t>
            </a:r>
            <a:endParaRPr sz="18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718769"/>
            <a:ext cx="21437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b="1" spc="-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b="1" spc="-30" dirty="0">
                <a:solidFill>
                  <a:srgbClr val="990000"/>
                </a:solidFill>
                <a:latin typeface="Arial"/>
                <a:cs typeface="Arial"/>
              </a:rPr>
              <a:t>ANALYSIS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28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9428" y="247903"/>
            <a:ext cx="2962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5" dirty="0">
                <a:solidFill>
                  <a:srgbClr val="CC6600"/>
                </a:solidFill>
                <a:latin typeface="Comic Sans MS"/>
                <a:cs typeface="Comic Sans MS"/>
              </a:rPr>
              <a:t> </a:t>
            </a:r>
            <a:endParaRPr sz="18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965" y="1303147"/>
            <a:ext cx="2463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Factor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analysis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model 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regression model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8331" y="2067935"/>
            <a:ext cx="1859914" cy="570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59840" algn="l"/>
              </a:tabLst>
            </a:pPr>
            <a:r>
              <a:rPr sz="3350" i="1" spc="65" dirty="0">
                <a:latin typeface="Times New Roman"/>
                <a:cs typeface="Times New Roman"/>
              </a:rPr>
              <a:t>x</a:t>
            </a:r>
            <a:r>
              <a:rPr sz="3350" i="1" spc="15" dirty="0">
                <a:latin typeface="Times New Roman"/>
                <a:cs typeface="Times New Roman"/>
              </a:rPr>
              <a:t> </a:t>
            </a:r>
            <a:r>
              <a:rPr sz="3350" spc="80" dirty="0">
                <a:latin typeface="Symbol"/>
                <a:cs typeface="Symbol"/>
              </a:rPr>
              <a:t></a:t>
            </a:r>
            <a:r>
              <a:rPr sz="3350" spc="-55" dirty="0">
                <a:latin typeface="Times New Roman"/>
                <a:cs typeface="Times New Roman"/>
              </a:rPr>
              <a:t> </a:t>
            </a:r>
            <a:r>
              <a:rPr sz="3350" spc="50" dirty="0">
                <a:latin typeface="Symbol"/>
                <a:cs typeface="Symbol"/>
              </a:rPr>
              <a:t></a:t>
            </a:r>
            <a:r>
              <a:rPr sz="3350" i="1" spc="50" dirty="0">
                <a:latin typeface="Times New Roman"/>
                <a:cs typeface="Times New Roman"/>
              </a:rPr>
              <a:t>f	</a:t>
            </a:r>
            <a:r>
              <a:rPr sz="3350" spc="80" dirty="0">
                <a:latin typeface="Symbol"/>
                <a:cs typeface="Symbol"/>
              </a:rPr>
              <a:t></a:t>
            </a:r>
            <a:r>
              <a:rPr sz="3350" spc="-240" dirty="0">
                <a:latin typeface="Times New Roman"/>
                <a:cs typeface="Times New Roman"/>
              </a:rPr>
              <a:t> </a:t>
            </a:r>
            <a:r>
              <a:rPr sz="3550" i="1" spc="-30" dirty="0">
                <a:latin typeface="Symbol"/>
                <a:cs typeface="Symbol"/>
              </a:rPr>
              <a:t>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793" y="3099308"/>
            <a:ext cx="844613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Assumptions</a:t>
            </a:r>
            <a:endParaRPr sz="18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random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disturbance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terms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µ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µ</a:t>
            </a:r>
            <a:r>
              <a:rPr sz="1800" spc="-15" baseline="-20833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,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2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-,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µ</a:t>
            </a:r>
            <a:r>
              <a:rPr sz="1800" spc="-15" baseline="-20833" dirty="0">
                <a:latin typeface="Arial"/>
                <a:cs typeface="Arial"/>
              </a:rPr>
              <a:t>q</a:t>
            </a:r>
            <a:r>
              <a:rPr sz="1800" spc="127" baseline="-20833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are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uncorrelated</a:t>
            </a:r>
            <a:r>
              <a:rPr sz="1800" spc="2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with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each</a:t>
            </a:r>
            <a:r>
              <a:rPr sz="1800" spc="2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other</a:t>
            </a:r>
            <a:endParaRPr sz="18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and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factors f</a:t>
            </a:r>
            <a:r>
              <a:rPr sz="1800" baseline="-20833" dirty="0">
                <a:latin typeface="Arial"/>
                <a:cs typeface="Arial"/>
              </a:rPr>
              <a:t>1</a:t>
            </a:r>
            <a:r>
              <a:rPr sz="1800" dirty="0">
                <a:latin typeface="Arial"/>
                <a:cs typeface="Arial"/>
              </a:rPr>
              <a:t>, f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 - - -,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</a:t>
            </a:r>
            <a:r>
              <a:rPr sz="1800" baseline="-20833" dirty="0">
                <a:latin typeface="Arial"/>
                <a:cs typeface="Arial"/>
              </a:rPr>
              <a:t>k</a:t>
            </a:r>
            <a:r>
              <a:rPr sz="180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63500" marR="5905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Hence correlation </a:t>
            </a:r>
            <a:r>
              <a:rPr sz="1800" dirty="0">
                <a:latin typeface="Arial"/>
                <a:cs typeface="Arial"/>
              </a:rPr>
              <a:t>between the </a:t>
            </a:r>
            <a:r>
              <a:rPr sz="1800" spc="-5" dirty="0">
                <a:latin typeface="Arial"/>
                <a:cs typeface="Arial"/>
              </a:rPr>
              <a:t>observed variables </a:t>
            </a:r>
            <a:r>
              <a:rPr sz="1800" dirty="0">
                <a:latin typeface="Arial"/>
                <a:cs typeface="Arial"/>
              </a:rPr>
              <a:t>arise from </a:t>
            </a:r>
            <a:r>
              <a:rPr sz="1800" spc="-5" dirty="0">
                <a:latin typeface="Arial"/>
                <a:cs typeface="Arial"/>
              </a:rPr>
              <a:t>their relationship 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common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63500" marR="55244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 factors </a:t>
            </a:r>
            <a:r>
              <a:rPr sz="1800" spc="-5" dirty="0">
                <a:latin typeface="Arial"/>
                <a:cs typeface="Arial"/>
              </a:rPr>
              <a:t>f</a:t>
            </a:r>
            <a:r>
              <a:rPr sz="1800" spc="-7" baseline="-20833" dirty="0"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dirty="0">
                <a:latin typeface="Arial"/>
                <a:cs typeface="Arial"/>
              </a:rPr>
              <a:t>f</a:t>
            </a:r>
            <a:r>
              <a:rPr sz="1800" baseline="-20833" dirty="0">
                <a:latin typeface="Arial"/>
                <a:cs typeface="Arial"/>
              </a:rPr>
              <a:t>2</a:t>
            </a:r>
            <a:r>
              <a:rPr sz="1800" dirty="0">
                <a:latin typeface="Arial"/>
                <a:cs typeface="Arial"/>
              </a:rPr>
              <a:t>, - - -, f</a:t>
            </a:r>
            <a:r>
              <a:rPr sz="1800" baseline="-20833" dirty="0">
                <a:latin typeface="Arial"/>
                <a:cs typeface="Arial"/>
              </a:rPr>
              <a:t>k </a:t>
            </a:r>
            <a:r>
              <a:rPr sz="1800" spc="-5" dirty="0">
                <a:latin typeface="Arial"/>
                <a:cs typeface="Arial"/>
              </a:rPr>
              <a:t>also uncorrelated </a:t>
            </a:r>
            <a:r>
              <a:rPr sz="1800" dirty="0">
                <a:latin typeface="Arial"/>
                <a:cs typeface="Arial"/>
              </a:rPr>
              <a:t>and </a:t>
            </a:r>
            <a:r>
              <a:rPr sz="1800" spc="-5" dirty="0">
                <a:latin typeface="Arial"/>
                <a:cs typeface="Arial"/>
              </a:rPr>
              <a:t>occur in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standardized </a:t>
            </a:r>
            <a:r>
              <a:rPr sz="1800" dirty="0">
                <a:latin typeface="Arial"/>
                <a:cs typeface="Arial"/>
              </a:rPr>
              <a:t>form </a:t>
            </a:r>
            <a:r>
              <a:rPr sz="1800" spc="-20" dirty="0">
                <a:latin typeface="Arial"/>
                <a:cs typeface="Arial"/>
              </a:rPr>
              <a:t>with  </a:t>
            </a:r>
            <a:r>
              <a:rPr sz="1800" spc="-5" dirty="0">
                <a:latin typeface="Arial"/>
                <a:cs typeface="Arial"/>
              </a:rPr>
              <a:t>mean zero and standard deviation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one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18769"/>
            <a:ext cx="8406765" cy="228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369570">
              <a:lnSpc>
                <a:spcPct val="100000"/>
              </a:lnSpc>
              <a:spcBef>
                <a:spcPts val="122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Principal Component Method of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factor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analysis</a:t>
            </a:r>
            <a:r>
              <a:rPr sz="1800" spc="9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369570" marR="5080">
              <a:lnSpc>
                <a:spcPct val="100000"/>
              </a:lnSpc>
              <a:spcBef>
                <a:spcPts val="1340"/>
              </a:spcBef>
            </a:pPr>
            <a:r>
              <a:rPr sz="1800" spc="-30" dirty="0">
                <a:latin typeface="Arial"/>
                <a:cs typeface="Arial"/>
              </a:rPr>
              <a:t>Very </a:t>
            </a:r>
            <a:r>
              <a:rPr sz="1800" spc="-5" dirty="0">
                <a:latin typeface="Arial"/>
                <a:cs typeface="Arial"/>
              </a:rPr>
              <a:t>similar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principal component </a:t>
            </a:r>
            <a:r>
              <a:rPr sz="1800" spc="-10" dirty="0">
                <a:latin typeface="Arial"/>
                <a:cs typeface="Arial"/>
              </a:rPr>
              <a:t>analysis </a:t>
            </a:r>
            <a:r>
              <a:rPr sz="1800" spc="-5" dirty="0">
                <a:latin typeface="Arial"/>
                <a:cs typeface="Arial"/>
              </a:rPr>
              <a:t>but not operating directly on </a:t>
            </a:r>
            <a:r>
              <a:rPr sz="1800" dirty="0">
                <a:latin typeface="Arial"/>
                <a:cs typeface="Arial"/>
              </a:rPr>
              <a:t>S </a:t>
            </a:r>
            <a:r>
              <a:rPr sz="1800" spc="-5" dirty="0">
                <a:latin typeface="Arial"/>
                <a:cs typeface="Arial"/>
              </a:rPr>
              <a:t>or R  but on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reduced covariance </a:t>
            </a:r>
            <a:r>
              <a:rPr sz="1800" dirty="0">
                <a:latin typeface="Arial"/>
                <a:cs typeface="Arial"/>
              </a:rPr>
              <a:t>matrix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S*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510540" algn="ctr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S* </a:t>
            </a:r>
            <a:r>
              <a:rPr sz="1800" dirty="0">
                <a:latin typeface="Arial"/>
                <a:cs typeface="Arial"/>
              </a:rPr>
              <a:t>= S -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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29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18769"/>
            <a:ext cx="5373370" cy="315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1780"/>
              </a:spcBef>
            </a:pPr>
            <a:r>
              <a:rPr sz="1800" spc="-5" dirty="0">
                <a:solidFill>
                  <a:srgbClr val="003399"/>
                </a:solidFill>
                <a:latin typeface="Arial"/>
                <a:cs typeface="Arial"/>
              </a:rPr>
              <a:t>Steps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Prepare correlation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Extract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set of factors using correlation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5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number of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Rotate </a:t>
            </a:r>
            <a:r>
              <a:rPr sz="1800" dirty="0">
                <a:latin typeface="Arial"/>
                <a:cs typeface="Arial"/>
              </a:rPr>
              <a:t>factors to </a:t>
            </a:r>
            <a:r>
              <a:rPr sz="1800" spc="-5" dirty="0">
                <a:latin typeface="Arial"/>
                <a:cs typeface="Arial"/>
              </a:rPr>
              <a:t>increase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interpretability</a:t>
            </a:r>
            <a:endParaRPr sz="1800">
              <a:latin typeface="Arial"/>
              <a:cs typeface="Arial"/>
            </a:endParaRPr>
          </a:p>
          <a:p>
            <a:pPr marL="660400" indent="-180340">
              <a:lnSpc>
                <a:spcPct val="100000"/>
              </a:lnSpc>
              <a:spcBef>
                <a:spcPts val="1080"/>
              </a:spcBef>
              <a:buChar char="•"/>
              <a:tabLst>
                <a:tab pos="661035" algn="l"/>
              </a:tabLst>
            </a:pPr>
            <a:r>
              <a:rPr sz="1800" spc="-5" dirty="0">
                <a:latin typeface="Arial"/>
                <a:cs typeface="Arial"/>
              </a:rPr>
              <a:t>Interpret results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30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31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8"/>
            <a:ext cx="8377555" cy="49167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Arial"/>
              <a:cs typeface="Arial"/>
            </a:endParaRPr>
          </a:p>
          <a:p>
            <a:pPr marL="191770" marR="5080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Example</a:t>
            </a:r>
            <a:r>
              <a:rPr sz="1800" spc="-5" dirty="0">
                <a:latin typeface="Arial"/>
                <a:cs typeface="Arial"/>
              </a:rPr>
              <a:t>: Suppose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researcher </a:t>
            </a:r>
            <a:r>
              <a:rPr sz="1800" spc="-10" dirty="0">
                <a:latin typeface="Arial"/>
                <a:cs typeface="Arial"/>
              </a:rPr>
              <a:t>wants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underlying benefits  consumers seek </a:t>
            </a:r>
            <a:r>
              <a:rPr sz="1800" dirty="0">
                <a:latin typeface="Arial"/>
                <a:cs typeface="Arial"/>
              </a:rPr>
              <a:t>from the </a:t>
            </a:r>
            <a:r>
              <a:rPr sz="1800" spc="-5" dirty="0">
                <a:latin typeface="Arial"/>
                <a:cs typeface="Arial"/>
              </a:rPr>
              <a:t>purchase of a toothpaste.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sample of 30 respondents  </a:t>
            </a:r>
            <a:r>
              <a:rPr sz="1800" spc="-10" dirty="0">
                <a:latin typeface="Arial"/>
                <a:cs typeface="Arial"/>
              </a:rPr>
              <a:t>was </a:t>
            </a:r>
            <a:r>
              <a:rPr sz="1800" spc="-5" dirty="0">
                <a:latin typeface="Arial"/>
                <a:cs typeface="Arial"/>
              </a:rPr>
              <a:t>interviewed.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respondents </a:t>
            </a:r>
            <a:r>
              <a:rPr sz="1800" spc="-10" dirty="0">
                <a:latin typeface="Arial"/>
                <a:cs typeface="Arial"/>
              </a:rPr>
              <a:t>were </a:t>
            </a:r>
            <a:r>
              <a:rPr sz="1800" spc="-5" dirty="0">
                <a:latin typeface="Arial"/>
                <a:cs typeface="Arial"/>
              </a:rPr>
              <a:t>asked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indicate their degree </a:t>
            </a:r>
            <a:r>
              <a:rPr sz="1800" spc="5" dirty="0">
                <a:latin typeface="Arial"/>
                <a:cs typeface="Arial"/>
              </a:rPr>
              <a:t>of  </a:t>
            </a:r>
            <a:r>
              <a:rPr sz="1800" spc="-5" dirty="0">
                <a:latin typeface="Arial"/>
                <a:cs typeface="Arial"/>
              </a:rPr>
              <a:t>agreement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following statements using a 7 </a:t>
            </a:r>
            <a:r>
              <a:rPr sz="1800" dirty="0">
                <a:latin typeface="Arial"/>
                <a:cs typeface="Arial"/>
              </a:rPr>
              <a:t>point </a:t>
            </a:r>
            <a:r>
              <a:rPr sz="1800" spc="-5" dirty="0">
                <a:latin typeface="Arial"/>
                <a:cs typeface="Arial"/>
              </a:rPr>
              <a:t>scale (1: strongly  disagree, 7: strongly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agree)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important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0" dirty="0">
                <a:latin typeface="Arial"/>
                <a:cs typeface="Arial"/>
              </a:rPr>
              <a:t>buy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toothpaste that prevents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cavities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I </a:t>
            </a:r>
            <a:r>
              <a:rPr sz="1800" spc="-5" dirty="0">
                <a:latin typeface="Arial"/>
                <a:cs typeface="Arial"/>
              </a:rPr>
              <a:t>like a toothpaste that gives shiny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teeth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toothpaste should strengthen </a:t>
            </a:r>
            <a:r>
              <a:rPr sz="1800" spc="-10" dirty="0">
                <a:latin typeface="Arial"/>
                <a:cs typeface="Arial"/>
              </a:rPr>
              <a:t>your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gums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I </a:t>
            </a:r>
            <a:r>
              <a:rPr sz="1800" spc="-5" dirty="0">
                <a:latin typeface="Arial"/>
                <a:cs typeface="Arial"/>
              </a:rPr>
              <a:t>prefer toothpaste that freshens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breath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spc="-5" dirty="0">
                <a:latin typeface="Arial"/>
                <a:cs typeface="Arial"/>
              </a:rPr>
              <a:t>Prevention of tooth decay is not an important benefit </a:t>
            </a:r>
            <a:r>
              <a:rPr sz="1800" spc="-10" dirty="0">
                <a:latin typeface="Arial"/>
                <a:cs typeface="Arial"/>
              </a:rPr>
              <a:t>offered </a:t>
            </a:r>
            <a:r>
              <a:rPr sz="1800" spc="-5" dirty="0">
                <a:latin typeface="Arial"/>
                <a:cs typeface="Arial"/>
              </a:rPr>
              <a:t>by a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toothpaste</a:t>
            </a:r>
            <a:endParaRPr sz="1800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dirty="0">
                <a:latin typeface="Arial"/>
                <a:cs typeface="Arial"/>
              </a:rPr>
              <a:t>The most </a:t>
            </a:r>
            <a:r>
              <a:rPr sz="1800" spc="-5" dirty="0">
                <a:latin typeface="Arial"/>
                <a:cs typeface="Arial"/>
              </a:rPr>
              <a:t>important consideration in </a:t>
            </a:r>
            <a:r>
              <a:rPr sz="1800" spc="-10" dirty="0">
                <a:latin typeface="Arial"/>
                <a:cs typeface="Arial"/>
              </a:rPr>
              <a:t>buying </a:t>
            </a:r>
            <a:r>
              <a:rPr sz="1800" spc="-5" dirty="0">
                <a:latin typeface="Arial"/>
                <a:cs typeface="Arial"/>
              </a:rPr>
              <a:t>a toothpaste is </a:t>
            </a:r>
            <a:r>
              <a:rPr sz="1800" dirty="0">
                <a:latin typeface="Arial"/>
                <a:cs typeface="Arial"/>
              </a:rPr>
              <a:t>attractive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teeth</a:t>
            </a:r>
            <a:endParaRPr lang="en-US" sz="1800" spc="-5" dirty="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tabLst>
                <a:tab pos="534670" algn="l"/>
                <a:tab pos="535305" algn="l"/>
              </a:tabLst>
            </a:pPr>
            <a:r>
              <a:rPr lang="en-US" spc="-5" dirty="0">
                <a:latin typeface="Arial"/>
                <a:cs typeface="Arial"/>
              </a:rPr>
              <a:t>Dataset: </a:t>
            </a:r>
            <a:r>
              <a:rPr lang="en-US" b="1" i="1" spc="-5" dirty="0">
                <a:solidFill>
                  <a:srgbClr val="FF0000"/>
                </a:solidFill>
                <a:latin typeface="Arial"/>
                <a:cs typeface="Arial"/>
              </a:rPr>
              <a:t>PCA_Factor_Analysis_Example.csv</a:t>
            </a:r>
            <a:endParaRPr sz="1800" b="1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32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572635" cy="211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1</a:t>
            </a:r>
            <a:r>
              <a:rPr sz="1800" spc="-5" dirty="0">
                <a:latin typeface="Arial"/>
                <a:cs typeface="Arial"/>
              </a:rPr>
              <a:t>: Normalize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data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"/>
              <a:cs typeface="Arial"/>
            </a:endParaRPr>
          </a:p>
          <a:p>
            <a:pPr marL="53467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z</a:t>
            </a:r>
            <a:r>
              <a:rPr sz="1800" spc="-5" dirty="0">
                <a:solidFill>
                  <a:srgbClr val="C00000"/>
                </a:solidFill>
                <a:latin typeface="Arial"/>
                <a:cs typeface="Arial"/>
              </a:rPr>
              <a:t> transform:</a:t>
            </a:r>
            <a:endParaRPr sz="1800">
              <a:latin typeface="Arial"/>
              <a:cs typeface="Arial"/>
            </a:endParaRPr>
          </a:p>
          <a:p>
            <a:pPr marL="53467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"/>
                <a:cs typeface="Arial"/>
              </a:rPr>
              <a:t>Transformed </a:t>
            </a:r>
            <a:r>
              <a:rPr sz="1800" spc="-5" dirty="0">
                <a:latin typeface="Arial"/>
                <a:cs typeface="Arial"/>
              </a:rPr>
              <a:t>data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(Data </a:t>
            </a:r>
            <a:r>
              <a:rPr sz="1800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Mean) </a:t>
            </a:r>
            <a:r>
              <a:rPr sz="1800" dirty="0">
                <a:latin typeface="Arial"/>
                <a:cs typeface="Arial"/>
              </a:rPr>
              <a:t>/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267" y="3626358"/>
            <a:ext cx="2719070" cy="208661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00" spc="-5" dirty="0">
                <a:latin typeface="Arial"/>
                <a:cs typeface="Arial"/>
              </a:rPr>
              <a:t>Reading ghe file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Liberation Sans Narrow"/>
                <a:cs typeface="Liberation Sans Narrow"/>
              </a:rPr>
              <a:t>&gt;mydata </a:t>
            </a:r>
            <a:r>
              <a:rPr sz="1800" dirty="0">
                <a:latin typeface="Liberation Sans Narrow"/>
                <a:cs typeface="Liberation Sans Narrow"/>
              </a:rPr>
              <a:t>=</a:t>
            </a:r>
            <a:r>
              <a:rPr sz="1800" spc="25" dirty="0">
                <a:latin typeface="Liberation Sans Narrow"/>
                <a:cs typeface="Liberation Sans Narrow"/>
              </a:rPr>
              <a:t> </a:t>
            </a:r>
            <a:r>
              <a:rPr sz="1800" spc="-10" dirty="0">
                <a:latin typeface="Liberation Sans Narrow"/>
                <a:cs typeface="Liberation Sans Narrow"/>
              </a:rPr>
              <a:t>mydata[,2:7]</a:t>
            </a:r>
            <a:endParaRPr sz="18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</a:pPr>
            <a:endParaRPr sz="20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Liberation Sans Narrow"/>
              <a:cs typeface="Liberation Sans Narro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Transforming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Liberation Sans Narrow"/>
                <a:cs typeface="Liberation Sans Narrow"/>
              </a:rPr>
              <a:t>&gt;myzdata </a:t>
            </a:r>
            <a:r>
              <a:rPr sz="1800" dirty="0">
                <a:latin typeface="Liberation Sans Narrow"/>
                <a:cs typeface="Liberation Sans Narrow"/>
              </a:rPr>
              <a:t>= </a:t>
            </a:r>
            <a:r>
              <a:rPr sz="1800" spc="-5" dirty="0">
                <a:latin typeface="Liberation Sans Narrow"/>
                <a:cs typeface="Liberation Sans Narrow"/>
              </a:rPr>
              <a:t>scale(mydata)</a:t>
            </a:r>
            <a:endParaRPr sz="18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5080000" cy="169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r>
              <a:rPr sz="1800" spc="-5" dirty="0">
                <a:latin typeface="Arial"/>
                <a:cs typeface="Arial"/>
              </a:rPr>
              <a:t>: Check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Correlation</a:t>
            </a:r>
            <a:endParaRPr sz="1800">
              <a:latin typeface="Arial"/>
              <a:cs typeface="Arial"/>
            </a:endParaRPr>
          </a:p>
          <a:p>
            <a:pPr marL="335280" indent="-144145">
              <a:lnSpc>
                <a:spcPct val="100000"/>
              </a:lnSpc>
              <a:spcBef>
                <a:spcPts val="1080"/>
              </a:spcBef>
              <a:buChar char="•"/>
              <a:tabLst>
                <a:tab pos="335915" algn="l"/>
              </a:tabLst>
            </a:pPr>
            <a:r>
              <a:rPr sz="1800" spc="-20" dirty="0">
                <a:latin typeface="Arial"/>
                <a:cs typeface="Arial"/>
              </a:rPr>
              <a:t>Variables </a:t>
            </a:r>
            <a:r>
              <a:rPr sz="1800" dirty="0">
                <a:latin typeface="Arial"/>
                <a:cs typeface="Arial"/>
              </a:rPr>
              <a:t>must </a:t>
            </a:r>
            <a:r>
              <a:rPr sz="1800" spc="-5" dirty="0">
                <a:latin typeface="Arial"/>
                <a:cs typeface="Arial"/>
              </a:rPr>
              <a:t>be correlated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data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reduction</a:t>
            </a:r>
            <a:endParaRPr sz="180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8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cor(myzdata)</a:t>
            </a:r>
            <a:endParaRPr sz="1800">
              <a:latin typeface="Liberation Sans Narrow"/>
              <a:cs typeface="Liberation Sans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0006" y="643107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Times New Roman"/>
                <a:cs typeface="Times New Roman"/>
              </a:rPr>
              <a:t>35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3762" y="3249676"/>
          <a:ext cx="6696708" cy="2400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8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24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49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10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Correlation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.873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-.086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-.858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.004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-.053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11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.572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.873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-.155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-.248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-.778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-.086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.572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-.248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-.858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.020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-.778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-.007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0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x6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.004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84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-.018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.640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-.136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1.000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494023" y="2944749"/>
            <a:ext cx="15474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990000"/>
                </a:solidFill>
                <a:latin typeface="Arial"/>
                <a:cs typeface="Arial"/>
              </a:rPr>
              <a:t>Correlation</a:t>
            </a:r>
            <a:r>
              <a:rPr sz="1400" b="1" spc="-80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00"/>
                </a:solidFill>
                <a:latin typeface="Arial"/>
                <a:cs typeface="Arial"/>
              </a:rPr>
              <a:t>Matrix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4065" y="5828974"/>
            <a:ext cx="3835400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spc="-5" dirty="0">
                <a:latin typeface="Arial"/>
                <a:cs typeface="Arial"/>
              </a:rPr>
              <a:t>High correlation </a:t>
            </a:r>
            <a:r>
              <a:rPr sz="1800" spc="-15" dirty="0">
                <a:latin typeface="Arial"/>
                <a:cs typeface="Arial"/>
              </a:rPr>
              <a:t>between </a:t>
            </a:r>
            <a:r>
              <a:rPr sz="1800" spc="-10" dirty="0">
                <a:latin typeface="Arial"/>
                <a:cs typeface="Arial"/>
              </a:rPr>
              <a:t>x1, x3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x5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Good correlation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spc="-5" dirty="0">
                <a:latin typeface="Arial"/>
                <a:cs typeface="Arial"/>
              </a:rPr>
              <a:t>x2, </a:t>
            </a:r>
            <a:r>
              <a:rPr sz="1800" spc="-10" dirty="0">
                <a:latin typeface="Arial"/>
                <a:cs typeface="Arial"/>
              </a:rPr>
              <a:t>x4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x6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34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890135" cy="169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3</a:t>
            </a:r>
            <a:r>
              <a:rPr sz="1800" spc="-5" dirty="0">
                <a:latin typeface="Arial"/>
                <a:cs typeface="Arial"/>
              </a:rPr>
              <a:t>: Check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Sampling (factor)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adequacy</a:t>
            </a:r>
            <a:endParaRPr sz="180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Liberation Sans Narrow"/>
                <a:cs typeface="Liberation Sans Narrow"/>
              </a:rPr>
              <a:t>&gt;library(psych)</a:t>
            </a:r>
            <a:endParaRPr sz="1800" dirty="0">
              <a:latin typeface="Liberation Sans Narrow"/>
              <a:cs typeface="Liberation Sans Narrow"/>
            </a:endParaRPr>
          </a:p>
          <a:p>
            <a:pPr marL="353695" indent="-162560">
              <a:lnSpc>
                <a:spcPct val="100000"/>
              </a:lnSpc>
              <a:spcBef>
                <a:spcPts val="107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KMO(myzdata)</a:t>
            </a:r>
            <a:endParaRPr sz="1800" dirty="0">
              <a:latin typeface="Liberation Sans Narrow"/>
              <a:cs typeface="Liberation Sans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962" y="2752725"/>
          <a:ext cx="8787765" cy="741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9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9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9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Statistics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30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0000CC"/>
                          </a:solidFill>
                          <a:latin typeface="Arial"/>
                          <a:cs typeface="Arial"/>
                        </a:rPr>
                        <a:t>Criteria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latin typeface="Liberation Sans Narrow"/>
                          <a:cs typeface="Liberation Sans Narrow"/>
                        </a:rPr>
                        <a:t>Kaiser, Meyer, </a:t>
                      </a:r>
                      <a:r>
                        <a:rPr sz="1800" spc="-5" dirty="0">
                          <a:latin typeface="Liberation Sans Narrow"/>
                          <a:cs typeface="Liberation Sans Narrow"/>
                        </a:rPr>
                        <a:t>Olkin</a:t>
                      </a:r>
                      <a:r>
                        <a:rPr sz="1800" spc="55" dirty="0">
                          <a:latin typeface="Liberation Sans Narrow"/>
                          <a:cs typeface="Liberation Sans Narrow"/>
                        </a:rPr>
                        <a:t> </a:t>
                      </a:r>
                      <a:r>
                        <a:rPr sz="1800" spc="-5" dirty="0">
                          <a:latin typeface="Liberation Sans Narrow"/>
                          <a:cs typeface="Liberation Sans Narrow"/>
                        </a:rPr>
                        <a:t>(KMO)</a:t>
                      </a:r>
                      <a:endParaRPr sz="18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Liberation Sans Narrow"/>
                          <a:cs typeface="Liberation Sans Narrow"/>
                        </a:rPr>
                        <a:t>0.66</a:t>
                      </a:r>
                      <a:endParaRPr sz="180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0" indent="-1414780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&gt;"/>
                        <a:tabLst>
                          <a:tab pos="1416685" algn="l"/>
                        </a:tabLst>
                      </a:pPr>
                      <a:r>
                        <a:rPr sz="1800" spc="-5" dirty="0">
                          <a:latin typeface="Liberation Sans Narrow"/>
                          <a:cs typeface="Liberation Sans Narrow"/>
                        </a:rPr>
                        <a:t>0.5</a:t>
                      </a:r>
                      <a:endParaRPr sz="1800" dirty="0">
                        <a:latin typeface="Liberation Sans Narrow"/>
                        <a:cs typeface="Liberation Sans Narrow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35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327525" cy="296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 dirty="0">
              <a:latin typeface="Arial"/>
              <a:cs typeface="Arial"/>
            </a:endParaRPr>
          </a:p>
          <a:p>
            <a:pPr marL="191770" marR="75565">
              <a:lnSpc>
                <a:spcPct val="150000"/>
              </a:lnSpc>
              <a:spcBef>
                <a:spcPts val="155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Step 4</a:t>
            </a:r>
            <a:r>
              <a:rPr sz="1800" spc="-5" dirty="0">
                <a:latin typeface="Arial"/>
                <a:cs typeface="Arial"/>
              </a:rPr>
              <a:t>: Identifying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number of </a:t>
            </a:r>
            <a:r>
              <a:rPr sz="1800" dirty="0">
                <a:latin typeface="Arial"/>
                <a:cs typeface="Arial"/>
              </a:rPr>
              <a:t>factors  </a:t>
            </a:r>
            <a:r>
              <a:rPr sz="1800" spc="-5" dirty="0">
                <a:latin typeface="Arial"/>
                <a:cs typeface="Arial"/>
              </a:rPr>
              <a:t>Compute eigen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values</a:t>
            </a:r>
            <a:endParaRPr sz="180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Choose </a:t>
            </a:r>
            <a:r>
              <a:rPr sz="1800" dirty="0">
                <a:latin typeface="Arial"/>
                <a:cs typeface="Arial"/>
              </a:rPr>
              <a:t>the factors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eigen values 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95"/>
              </a:spcBef>
              <a:buChar char="&gt;"/>
              <a:tabLst>
                <a:tab pos="354330" algn="l"/>
              </a:tabLst>
            </a:pPr>
            <a:r>
              <a:rPr sz="1800" dirty="0">
                <a:latin typeface="Liberation Sans Narrow"/>
                <a:cs typeface="Liberation Sans Narrow"/>
              </a:rPr>
              <a:t>s =</a:t>
            </a:r>
            <a:r>
              <a:rPr sz="1800" spc="-10" dirty="0">
                <a:latin typeface="Liberation Sans Narrow"/>
                <a:cs typeface="Liberation Sans Narrow"/>
              </a:rPr>
              <a:t> </a:t>
            </a:r>
            <a:r>
              <a:rPr sz="1800" spc="-5" dirty="0">
                <a:latin typeface="Liberation Sans Narrow"/>
                <a:cs typeface="Liberation Sans Narrow"/>
              </a:rPr>
              <a:t>cov(myzdata)</a:t>
            </a:r>
            <a:endParaRPr sz="1800" dirty="0">
              <a:latin typeface="Liberation Sans Narrow"/>
              <a:cs typeface="Liberation Sans Narrow"/>
            </a:endParaRPr>
          </a:p>
          <a:p>
            <a:pPr marL="353695" indent="-162560">
              <a:lnSpc>
                <a:spcPct val="100000"/>
              </a:lnSpc>
              <a:spcBef>
                <a:spcPts val="108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s_eigen </a:t>
            </a:r>
            <a:r>
              <a:rPr sz="1800" dirty="0">
                <a:latin typeface="Liberation Sans Narrow"/>
                <a:cs typeface="Liberation Sans Narrow"/>
              </a:rPr>
              <a:t>=</a:t>
            </a:r>
            <a:r>
              <a:rPr sz="1800" spc="30" dirty="0">
                <a:latin typeface="Liberation Sans Narrow"/>
                <a:cs typeface="Liberation Sans Narrow"/>
              </a:rPr>
              <a:t> </a:t>
            </a:r>
            <a:r>
              <a:rPr sz="1800" spc="-10" dirty="0">
                <a:latin typeface="Liberation Sans Narrow"/>
                <a:cs typeface="Liberation Sans Narrow"/>
              </a:rPr>
              <a:t>eigen(s)</a:t>
            </a:r>
            <a:endParaRPr sz="1800" dirty="0">
              <a:latin typeface="Liberation Sans Narrow"/>
              <a:cs typeface="Liberation Sans Narrow"/>
            </a:endParaRPr>
          </a:p>
          <a:p>
            <a:pPr marL="353695" indent="-162560">
              <a:lnSpc>
                <a:spcPct val="100000"/>
              </a:lnSpc>
              <a:spcBef>
                <a:spcPts val="107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variance </a:t>
            </a:r>
            <a:r>
              <a:rPr sz="1800" dirty="0">
                <a:latin typeface="Liberation Sans Narrow"/>
                <a:cs typeface="Liberation Sans Narrow"/>
              </a:rPr>
              <a:t>=</a:t>
            </a:r>
            <a:r>
              <a:rPr sz="1800" spc="15" dirty="0">
                <a:latin typeface="Liberation Sans Narrow"/>
                <a:cs typeface="Liberation Sans Narrow"/>
              </a:rPr>
              <a:t> </a:t>
            </a:r>
            <a:r>
              <a:rPr sz="1800" spc="-10" dirty="0">
                <a:latin typeface="Liberation Sans Narrow"/>
                <a:cs typeface="Liberation Sans Narrow"/>
              </a:rPr>
              <a:t>s_eigen$values</a:t>
            </a:r>
            <a:endParaRPr sz="1800" dirty="0">
              <a:latin typeface="Liberation Sans Narrow"/>
              <a:cs typeface="Liberation Sans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11262" y="3997325"/>
          <a:ext cx="6358255" cy="2571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3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Factor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1800" spc="-2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Variance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Cum </a:t>
                      </a: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18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2.731188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45.52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45.52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563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2.218119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36.97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82.49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0.441598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7.36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89.85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475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0.341258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5.69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95.54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462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0.182628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3.04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98.58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475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0.085209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1.42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100.00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462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45" dirty="0">
                          <a:latin typeface="Arial"/>
                          <a:cs typeface="Arial"/>
                        </a:rPr>
                        <a:t>Total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36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8445500" cy="1923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4</a:t>
            </a:r>
            <a:r>
              <a:rPr sz="1800" spc="-5" dirty="0">
                <a:latin typeface="Arial"/>
                <a:cs typeface="Arial"/>
              </a:rPr>
              <a:t>: 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number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Factors</a:t>
            </a:r>
            <a:endParaRPr sz="1800">
              <a:latin typeface="Arial"/>
              <a:cs typeface="Arial"/>
            </a:endParaRPr>
          </a:p>
          <a:p>
            <a:pPr marL="517525" indent="-25463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18159" algn="l"/>
                <a:tab pos="3066415" algn="l"/>
              </a:tabLst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Based on</a:t>
            </a:r>
            <a:r>
              <a:rPr sz="1800" spc="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Eigen</a:t>
            </a:r>
            <a:r>
              <a:rPr sz="1800" spc="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0099"/>
                </a:solidFill>
                <a:latin typeface="Arial"/>
                <a:cs typeface="Arial"/>
              </a:rPr>
              <a:t>Values:	</a:t>
            </a:r>
            <a:r>
              <a:rPr sz="1800" spc="-5" dirty="0">
                <a:latin typeface="Arial"/>
                <a:cs typeface="Arial"/>
              </a:rPr>
              <a:t>Only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Eigen value </a:t>
            </a:r>
            <a:r>
              <a:rPr sz="1800" dirty="0">
                <a:latin typeface="Arial"/>
                <a:cs typeface="Arial"/>
              </a:rPr>
              <a:t>&gt; </a:t>
            </a:r>
            <a:r>
              <a:rPr sz="1800" spc="-5" dirty="0">
                <a:latin typeface="Arial"/>
                <a:cs typeface="Arial"/>
              </a:rPr>
              <a:t>1.0 are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selected</a:t>
            </a:r>
            <a:endParaRPr sz="1800">
              <a:latin typeface="Arial"/>
              <a:cs typeface="Arial"/>
            </a:endParaRPr>
          </a:p>
          <a:p>
            <a:pPr marL="565150" indent="-30226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65785" algn="l"/>
              </a:tabLst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Based on cumulative % variance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5" dirty="0">
                <a:latin typeface="Arial"/>
                <a:cs typeface="Arial"/>
              </a:rPr>
              <a:t>extracted should account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3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at</a:t>
            </a:r>
            <a:endParaRPr sz="1800">
              <a:latin typeface="Arial"/>
              <a:cs typeface="Arial"/>
            </a:endParaRPr>
          </a:p>
          <a:p>
            <a:pPr marL="52705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least 65 </a:t>
            </a:r>
            <a:r>
              <a:rPr sz="1800" dirty="0">
                <a:latin typeface="Arial"/>
                <a:cs typeface="Arial"/>
              </a:rPr>
              <a:t>%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016" y="5898896"/>
            <a:ext cx="3039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Number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factors selected </a:t>
            </a:r>
            <a:r>
              <a:rPr sz="1800" dirty="0">
                <a:latin typeface="Carlito"/>
                <a:cs typeface="Carlito"/>
              </a:rPr>
              <a:t>:</a:t>
            </a:r>
            <a:r>
              <a:rPr sz="1800" spc="-90" dirty="0">
                <a:latin typeface="Carlito"/>
                <a:cs typeface="Carlito"/>
              </a:rPr>
              <a:t> </a:t>
            </a:r>
            <a:r>
              <a:rPr sz="1800" dirty="0">
                <a:solidFill>
                  <a:srgbClr val="000099"/>
                </a:solidFill>
                <a:latin typeface="Carlito"/>
                <a:cs typeface="Carlito"/>
              </a:rPr>
              <a:t>2</a:t>
            </a:r>
            <a:endParaRPr sz="1800">
              <a:latin typeface="Carlito"/>
              <a:cs typeface="Carlit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54075" y="2925826"/>
          <a:ext cx="6357619" cy="2571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2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35"/>
                        </a:spcBef>
                      </a:pP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Factor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35"/>
                        </a:spcBef>
                      </a:pPr>
                      <a:r>
                        <a:rPr sz="18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9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1800" spc="-2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35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Cum %</a:t>
                      </a:r>
                      <a:r>
                        <a:rPr sz="1800" spc="-2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2.731188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45.52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45.52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2.218119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36.97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82.49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63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0.441598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7.36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89.85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0.341258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5.69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95.54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0.182628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3.04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98.58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437"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F6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0.085209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1.42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85"/>
                        </a:lnSpc>
                        <a:spcBef>
                          <a:spcPts val="3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100.00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563"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spc="-40" dirty="0">
                          <a:latin typeface="Arial"/>
                          <a:cs typeface="Arial"/>
                        </a:rPr>
                        <a:t>Total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0"/>
                        </a:lnSpc>
                        <a:spcBef>
                          <a:spcPts val="34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18769"/>
            <a:ext cx="8444865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4</a:t>
            </a:r>
            <a:r>
              <a:rPr sz="1800" spc="-5" dirty="0">
                <a:latin typeface="Arial"/>
                <a:cs typeface="Arial"/>
              </a:rPr>
              <a:t>: Determine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number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Factors</a:t>
            </a:r>
            <a:endParaRPr sz="1800" dirty="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8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barplot(variance, xlab </a:t>
            </a:r>
            <a:r>
              <a:rPr sz="1800" dirty="0">
                <a:latin typeface="Liberation Sans Narrow"/>
                <a:cs typeface="Liberation Sans Narrow"/>
              </a:rPr>
              <a:t>= "Factor", </a:t>
            </a:r>
            <a:r>
              <a:rPr sz="1800" spc="-5" dirty="0">
                <a:latin typeface="Liberation Sans Narrow"/>
                <a:cs typeface="Liberation Sans Narrow"/>
              </a:rPr>
              <a:t>ylab </a:t>
            </a:r>
            <a:r>
              <a:rPr sz="1800" dirty="0">
                <a:latin typeface="Liberation Sans Narrow"/>
                <a:cs typeface="Liberation Sans Narrow"/>
              </a:rPr>
              <a:t>= </a:t>
            </a:r>
            <a:r>
              <a:rPr sz="1800" spc="-15" dirty="0">
                <a:latin typeface="Liberation Sans Narrow"/>
                <a:cs typeface="Liberation Sans Narrow"/>
              </a:rPr>
              <a:t>'Variance', </a:t>
            </a:r>
            <a:r>
              <a:rPr sz="1800" spc="-10" dirty="0">
                <a:latin typeface="Liberation Sans Narrow"/>
                <a:cs typeface="Liberation Sans Narrow"/>
              </a:rPr>
              <a:t>main </a:t>
            </a:r>
            <a:r>
              <a:rPr sz="1800" dirty="0">
                <a:latin typeface="Liberation Sans Narrow"/>
                <a:cs typeface="Liberation Sans Narrow"/>
              </a:rPr>
              <a:t>= "Scree</a:t>
            </a:r>
            <a:r>
              <a:rPr sz="1800" spc="140" dirty="0">
                <a:latin typeface="Liberation Sans Narrow"/>
                <a:cs typeface="Liberation Sans Narrow"/>
              </a:rPr>
              <a:t> </a:t>
            </a:r>
            <a:r>
              <a:rPr sz="1800" dirty="0">
                <a:latin typeface="Liberation Sans Narrow"/>
                <a:cs typeface="Liberation Sans Narrow"/>
              </a:rPr>
              <a:t>Plot“)</a:t>
            </a:r>
          </a:p>
          <a:p>
            <a:pPr marL="263525" marR="5080" algn="just">
              <a:lnSpc>
                <a:spcPct val="100000"/>
              </a:lnSpc>
              <a:spcBef>
                <a:spcPts val="965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3. Based on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Scree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plot: </a:t>
            </a:r>
            <a:r>
              <a:rPr sz="1800" spc="-5" dirty="0">
                <a:latin typeface="Arial"/>
                <a:cs typeface="Arial"/>
              </a:rPr>
              <a:t>Plot </a:t>
            </a:r>
            <a:r>
              <a:rPr sz="1800" dirty="0">
                <a:latin typeface="Arial"/>
                <a:cs typeface="Arial"/>
              </a:rPr>
              <a:t>of the </a:t>
            </a:r>
            <a:r>
              <a:rPr sz="1800" spc="-5" dirty="0">
                <a:latin typeface="Arial"/>
                <a:cs typeface="Arial"/>
              </a:rPr>
              <a:t>eigen </a:t>
            </a:r>
            <a:r>
              <a:rPr sz="1800" dirty="0">
                <a:latin typeface="Arial"/>
                <a:cs typeface="Arial"/>
              </a:rPr>
              <a:t>values </a:t>
            </a:r>
            <a:r>
              <a:rPr sz="1800" spc="-5" dirty="0">
                <a:latin typeface="Arial"/>
                <a:cs typeface="Arial"/>
              </a:rPr>
              <a:t>against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number of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10" dirty="0">
                <a:latin typeface="Arial"/>
                <a:cs typeface="Arial"/>
              </a:rPr>
              <a:t>in  </a:t>
            </a:r>
            <a:r>
              <a:rPr sz="1800" spc="-5" dirty="0">
                <a:latin typeface="Arial"/>
                <a:cs typeface="Arial"/>
              </a:rPr>
              <a:t>order of extraction.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number of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5" dirty="0">
                <a:latin typeface="Arial"/>
                <a:cs typeface="Arial"/>
              </a:rPr>
              <a:t>is identified </a:t>
            </a:r>
            <a:r>
              <a:rPr sz="1800" dirty="0">
                <a:latin typeface="Arial"/>
                <a:cs typeface="Arial"/>
              </a:rPr>
              <a:t>based </a:t>
            </a:r>
            <a:r>
              <a:rPr sz="1800" spc="-5" dirty="0">
                <a:latin typeface="Arial"/>
                <a:cs typeface="Arial"/>
              </a:rPr>
              <a:t>on slope change of  scree</a:t>
            </a:r>
            <a:r>
              <a:rPr sz="1800" spc="-10" dirty="0">
                <a:latin typeface="Arial"/>
                <a:cs typeface="Arial"/>
              </a:rPr>
              <a:t> plot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8430006" y="643107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Times New Roman"/>
                <a:cs typeface="Times New Roman"/>
              </a:rPr>
              <a:t>39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3016" y="6446621"/>
            <a:ext cx="313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1865" algn="l"/>
              </a:tabLst>
            </a:pPr>
            <a:r>
              <a:rPr sz="1800" spc="-5" dirty="0">
                <a:latin typeface="Arial"/>
                <a:cs typeface="Arial"/>
              </a:rPr>
              <a:t>Number	</a:t>
            </a:r>
            <a:r>
              <a:rPr sz="1800" dirty="0">
                <a:latin typeface="Arial"/>
                <a:cs typeface="Arial"/>
              </a:rPr>
              <a:t>of factors </a:t>
            </a:r>
            <a:r>
              <a:rPr sz="1800" spc="-5" dirty="0">
                <a:latin typeface="Arial"/>
                <a:cs typeface="Arial"/>
              </a:rPr>
              <a:t>selected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56675" y="3422294"/>
            <a:ext cx="5373166" cy="2681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38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3430270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Calculate Factor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Scores</a:t>
            </a:r>
            <a:endParaRPr sz="1800" dirty="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80"/>
              </a:spcBef>
              <a:buChar char="&gt;"/>
              <a:tabLst>
                <a:tab pos="354330" algn="l"/>
              </a:tabLst>
            </a:pPr>
            <a:r>
              <a:rPr sz="1800" spc="-10" dirty="0">
                <a:latin typeface="Liberation Sans Narrow"/>
                <a:cs typeface="Liberation Sans Narrow"/>
              </a:rPr>
              <a:t>mymodel </a:t>
            </a:r>
            <a:r>
              <a:rPr sz="1800" dirty="0">
                <a:latin typeface="Liberation Sans Narrow"/>
                <a:cs typeface="Liberation Sans Narrow"/>
              </a:rPr>
              <a:t>= </a:t>
            </a:r>
            <a:r>
              <a:rPr sz="1800" spc="-5" dirty="0">
                <a:latin typeface="Liberation Sans Narrow"/>
                <a:cs typeface="Liberation Sans Narrow"/>
              </a:rPr>
              <a:t>factanal(myzdata,</a:t>
            </a:r>
            <a:r>
              <a:rPr sz="1800" spc="70" dirty="0">
                <a:latin typeface="Liberation Sans Narrow"/>
                <a:cs typeface="Liberation Sans Narrow"/>
              </a:rPr>
              <a:t> </a:t>
            </a:r>
            <a:r>
              <a:rPr sz="1800" spc="-5" dirty="0">
                <a:latin typeface="Liberation Sans Narrow"/>
                <a:cs typeface="Liberation Sans Narrow"/>
              </a:rPr>
              <a:t>2)</a:t>
            </a:r>
            <a:endParaRPr sz="1800" dirty="0">
              <a:latin typeface="Liberation Sans Narrow"/>
              <a:cs typeface="Liberation Sans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22400" y="2422525"/>
          <a:ext cx="29718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0.968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-0.140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-0.887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0.236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35965" y="5457240"/>
            <a:ext cx="7894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Interpretation is </a:t>
            </a:r>
            <a:r>
              <a:rPr sz="1800" spc="-10" dirty="0">
                <a:latin typeface="Arial"/>
                <a:cs typeface="Arial"/>
              </a:rPr>
              <a:t>difficult </a:t>
            </a:r>
            <a:r>
              <a:rPr sz="1800" spc="-15" dirty="0">
                <a:latin typeface="Arial"/>
                <a:cs typeface="Arial"/>
              </a:rPr>
              <a:t>when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variables are evenly loaded on many </a:t>
            </a:r>
            <a:r>
              <a:rPr sz="1800" dirty="0">
                <a:latin typeface="Arial"/>
                <a:cs typeface="Arial"/>
              </a:rPr>
              <a:t>factors  </a:t>
            </a:r>
            <a:r>
              <a:rPr sz="1800" spc="-5" dirty="0">
                <a:latin typeface="Arial"/>
                <a:cs typeface="Arial"/>
              </a:rPr>
              <a:t>Solution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:</a:t>
            </a:r>
            <a:r>
              <a:rPr sz="1800" spc="1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39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8376284" cy="4745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Calculate Factor Scores: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 marL="191770" marR="508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process </a:t>
            </a:r>
            <a:r>
              <a:rPr sz="1800" dirty="0">
                <a:latin typeface="Arial"/>
                <a:cs typeface="Arial"/>
              </a:rPr>
              <a:t>by </a:t>
            </a:r>
            <a:r>
              <a:rPr sz="1800" spc="-5" dirty="0">
                <a:latin typeface="Arial"/>
                <a:cs typeface="Arial"/>
              </a:rPr>
              <a:t>which a solution is made more interpretable without changing </a:t>
            </a:r>
            <a:r>
              <a:rPr sz="1800" dirty="0">
                <a:latin typeface="Arial"/>
                <a:cs typeface="Arial"/>
              </a:rPr>
              <a:t>its  </a:t>
            </a:r>
            <a:r>
              <a:rPr sz="1800" spc="-10" dirty="0">
                <a:latin typeface="Arial"/>
                <a:cs typeface="Arial"/>
              </a:rPr>
              <a:t>underlying </a:t>
            </a:r>
            <a:r>
              <a:rPr sz="1800" spc="-5" dirty="0">
                <a:latin typeface="Arial"/>
                <a:cs typeface="Arial"/>
              </a:rPr>
              <a:t>mathematical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properties.</a:t>
            </a:r>
            <a:endParaRPr sz="180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1080"/>
              </a:spcBef>
            </a:pPr>
            <a:r>
              <a:rPr sz="1800" spc="-25" dirty="0">
                <a:latin typeface="Arial"/>
                <a:cs typeface="Arial"/>
              </a:rPr>
              <a:t>Types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rotations</a:t>
            </a:r>
            <a:endParaRPr sz="180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Orthogonal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 marL="534670" indent="-343535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534670" algn="l"/>
                <a:tab pos="535305" algn="l"/>
              </a:tabLst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Oblique</a:t>
            </a:r>
            <a:r>
              <a:rPr sz="1800" spc="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Orthogonal</a:t>
            </a:r>
            <a:r>
              <a:rPr sz="1800" spc="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Restricts the </a:t>
            </a:r>
            <a:r>
              <a:rPr sz="1800" dirty="0">
                <a:latin typeface="Arial"/>
                <a:cs typeface="Arial"/>
              </a:rPr>
              <a:t>rotated </a:t>
            </a:r>
            <a:r>
              <a:rPr sz="1800" spc="-5" dirty="0">
                <a:latin typeface="Arial"/>
                <a:cs typeface="Arial"/>
              </a:rPr>
              <a:t>factors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being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uncorrelated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22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Oblique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600"/>
              </a:spcBef>
            </a:pPr>
            <a:r>
              <a:rPr sz="1800" spc="-15" dirty="0">
                <a:latin typeface="Arial"/>
                <a:cs typeface="Arial"/>
              </a:rPr>
              <a:t>allows </a:t>
            </a:r>
            <a:r>
              <a:rPr sz="1800" dirty="0">
                <a:latin typeface="Arial"/>
                <a:cs typeface="Arial"/>
              </a:rPr>
              <a:t>the rotated factors to </a:t>
            </a:r>
            <a:r>
              <a:rPr sz="1800" spc="-5" dirty="0">
                <a:latin typeface="Arial"/>
                <a:cs typeface="Arial"/>
              </a:rPr>
              <a:t>be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correlated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40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8376284" cy="3072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Calculate Factor Scores: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 marL="191770" marR="508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process </a:t>
            </a:r>
            <a:r>
              <a:rPr sz="1800" dirty="0">
                <a:latin typeface="Arial"/>
                <a:cs typeface="Arial"/>
              </a:rPr>
              <a:t>by </a:t>
            </a:r>
            <a:r>
              <a:rPr sz="1800" spc="-5" dirty="0">
                <a:latin typeface="Arial"/>
                <a:cs typeface="Arial"/>
              </a:rPr>
              <a:t>which a solution is made more interpretable without changing </a:t>
            </a:r>
            <a:r>
              <a:rPr sz="1800" dirty="0">
                <a:latin typeface="Arial"/>
                <a:cs typeface="Arial"/>
              </a:rPr>
              <a:t>its  </a:t>
            </a:r>
            <a:r>
              <a:rPr sz="1800" spc="-10" dirty="0">
                <a:latin typeface="Arial"/>
                <a:cs typeface="Arial"/>
              </a:rPr>
              <a:t>underlying </a:t>
            </a:r>
            <a:r>
              <a:rPr sz="1800" spc="-5" dirty="0">
                <a:latin typeface="Arial"/>
                <a:cs typeface="Arial"/>
              </a:rPr>
              <a:t>mathematical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properties.</a:t>
            </a:r>
            <a:endParaRPr sz="180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Commonly used rotation </a:t>
            </a:r>
            <a:r>
              <a:rPr sz="1800" dirty="0">
                <a:latin typeface="Arial"/>
                <a:cs typeface="Arial"/>
              </a:rPr>
              <a:t>: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Orthogonal</a:t>
            </a:r>
            <a:r>
              <a:rPr sz="1800" spc="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Commonly used </a:t>
            </a:r>
            <a:r>
              <a:rPr sz="1800" spc="-10" dirty="0">
                <a:latin typeface="Arial"/>
                <a:cs typeface="Arial"/>
              </a:rPr>
              <a:t>orthogonal </a:t>
            </a:r>
            <a:r>
              <a:rPr sz="1800" spc="-5" dirty="0">
                <a:latin typeface="Arial"/>
                <a:cs typeface="Arial"/>
              </a:rPr>
              <a:t>rotation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: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varimax</a:t>
            </a:r>
            <a:r>
              <a:rPr sz="1800" spc="7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>
              <a:latin typeface="Arial"/>
              <a:cs typeface="Arial"/>
            </a:endParaRPr>
          </a:p>
          <a:p>
            <a:pPr marL="191770" marR="6350">
              <a:lnSpc>
                <a:spcPct val="100000"/>
              </a:lnSpc>
              <a:spcBef>
                <a:spcPts val="1085"/>
              </a:spcBef>
            </a:pPr>
            <a:r>
              <a:rPr sz="1800" spc="-20" dirty="0">
                <a:latin typeface="Arial"/>
                <a:cs typeface="Arial"/>
              </a:rPr>
              <a:t>Try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achieve </a:t>
            </a:r>
            <a:r>
              <a:rPr sz="1800" dirty="0">
                <a:latin typeface="Arial"/>
                <a:cs typeface="Arial"/>
              </a:rPr>
              <a:t>factors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a </a:t>
            </a:r>
            <a:r>
              <a:rPr sz="1800" spc="5" dirty="0">
                <a:latin typeface="Arial"/>
                <a:cs typeface="Arial"/>
              </a:rPr>
              <a:t>few </a:t>
            </a:r>
            <a:r>
              <a:rPr sz="1800" spc="-5" dirty="0">
                <a:latin typeface="Arial"/>
                <a:cs typeface="Arial"/>
              </a:rPr>
              <a:t>large loadings and as many near </a:t>
            </a:r>
            <a:r>
              <a:rPr sz="1800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zero  loadings as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possible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41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7244715" cy="169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Calculate Factor Scores: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Rotation</a:t>
            </a:r>
            <a:endParaRPr sz="1800" dirty="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9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myrotatedmodel </a:t>
            </a:r>
            <a:r>
              <a:rPr sz="1800" dirty="0">
                <a:latin typeface="Liberation Sans Narrow"/>
                <a:cs typeface="Liberation Sans Narrow"/>
              </a:rPr>
              <a:t>= </a:t>
            </a:r>
            <a:r>
              <a:rPr sz="1800" spc="-5" dirty="0">
                <a:latin typeface="Liberation Sans Narrow"/>
                <a:cs typeface="Liberation Sans Narrow"/>
              </a:rPr>
              <a:t>factanal(myzdata, 2, rotation </a:t>
            </a:r>
            <a:r>
              <a:rPr sz="1800" dirty="0">
                <a:latin typeface="Liberation Sans Narrow"/>
                <a:cs typeface="Liberation Sans Narrow"/>
              </a:rPr>
              <a:t>= </a:t>
            </a:r>
            <a:r>
              <a:rPr sz="1800" spc="-5" dirty="0">
                <a:latin typeface="Liberation Sans Narrow"/>
                <a:cs typeface="Liberation Sans Narrow"/>
              </a:rPr>
              <a:t>"varimax", scores </a:t>
            </a:r>
            <a:r>
              <a:rPr sz="1800" dirty="0">
                <a:latin typeface="Liberation Sans Narrow"/>
                <a:cs typeface="Liberation Sans Narrow"/>
              </a:rPr>
              <a:t>=</a:t>
            </a:r>
            <a:r>
              <a:rPr sz="1800" spc="165" dirty="0">
                <a:latin typeface="Liberation Sans Narrow"/>
                <a:cs typeface="Liberation Sans Narrow"/>
              </a:rPr>
              <a:t> </a:t>
            </a:r>
            <a:r>
              <a:rPr sz="1800" spc="-5" dirty="0">
                <a:latin typeface="Liberation Sans Narrow"/>
                <a:cs typeface="Liberation Sans Narrow"/>
              </a:rPr>
              <a:t>"regression")</a:t>
            </a:r>
            <a:endParaRPr sz="1800" dirty="0">
              <a:latin typeface="Liberation Sans Narrow"/>
              <a:cs typeface="Liberation Sans Narrow"/>
            </a:endParaRPr>
          </a:p>
          <a:p>
            <a:pPr marL="353695" indent="-162560">
              <a:lnSpc>
                <a:spcPct val="100000"/>
              </a:lnSpc>
              <a:spcBef>
                <a:spcPts val="107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myrotatedmodel</a:t>
            </a:r>
            <a:endParaRPr sz="1800" dirty="0">
              <a:latin typeface="Liberation Sans Narrow"/>
              <a:cs typeface="Liberation Sans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79651" y="2922651"/>
          <a:ext cx="2971800" cy="2514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0.968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-0.140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98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-0.887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0.236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451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-2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42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4867275" cy="87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Interpret </a:t>
            </a:r>
            <a:r>
              <a:rPr sz="1800" spc="-10" dirty="0">
                <a:latin typeface="Arial"/>
                <a:cs typeface="Arial"/>
              </a:rPr>
              <a:t>Components </a:t>
            </a:r>
            <a:r>
              <a:rPr sz="1800" dirty="0">
                <a:latin typeface="Arial"/>
                <a:cs typeface="Arial"/>
              </a:rPr>
              <a:t>– </a:t>
            </a:r>
            <a:r>
              <a:rPr sz="1800" spc="-5" dirty="0">
                <a:latin typeface="Arial"/>
                <a:cs typeface="Arial"/>
              </a:rPr>
              <a:t>Eigen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Vectors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107766"/>
            <a:ext cx="436880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 1 is correlated </a:t>
            </a:r>
            <a:r>
              <a:rPr sz="1800" spc="-15" dirty="0">
                <a:solidFill>
                  <a:srgbClr val="000099"/>
                </a:solidFill>
                <a:latin typeface="Arial"/>
                <a:cs typeface="Arial"/>
              </a:rPr>
              <a:t>with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x1, x3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&amp;</a:t>
            </a:r>
            <a:r>
              <a:rPr sz="1800" spc="1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x5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Component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2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is correlated </a:t>
            </a:r>
            <a:r>
              <a:rPr sz="1800" spc="-15" dirty="0">
                <a:solidFill>
                  <a:srgbClr val="000099"/>
                </a:solidFill>
                <a:latin typeface="Arial"/>
                <a:cs typeface="Arial"/>
              </a:rPr>
              <a:t>with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x2, x4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&amp;</a:t>
            </a:r>
            <a:r>
              <a:rPr sz="1800" spc="1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99"/>
                </a:solidFill>
                <a:latin typeface="Arial"/>
                <a:cs typeface="Arial"/>
              </a:rPr>
              <a:t>x6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79651" y="1765300"/>
          <a:ext cx="3499484" cy="2800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6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01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96265">
                        <a:lnSpc>
                          <a:spcPts val="2075"/>
                        </a:lnSpc>
                      </a:pPr>
                      <a:r>
                        <a:rPr sz="1800" spc="-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2140"/>
                        </a:lnSpc>
                      </a:pPr>
                      <a:r>
                        <a:rPr sz="18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ts val="2075"/>
                        </a:lnSpc>
                      </a:pPr>
                      <a:r>
                        <a:rPr sz="18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138">
                <a:tc>
                  <a:txBody>
                    <a:bodyPr/>
                    <a:lstStyle/>
                    <a:p>
                      <a:pPr marR="436880" algn="r">
                        <a:lnSpc>
                          <a:spcPts val="2075"/>
                        </a:lnSpc>
                      </a:pPr>
                      <a:r>
                        <a:rPr sz="1800" spc="-1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0.968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12">
                <a:tc>
                  <a:txBody>
                    <a:bodyPr/>
                    <a:lstStyle/>
                    <a:p>
                      <a:pPr marR="436880" algn="r">
                        <a:lnSpc>
                          <a:spcPts val="2075"/>
                        </a:lnSpc>
                      </a:pPr>
                      <a:r>
                        <a:rPr sz="1800" spc="-1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12">
                <a:tc>
                  <a:txBody>
                    <a:bodyPr/>
                    <a:lstStyle/>
                    <a:p>
                      <a:pPr marR="436880" algn="r">
                        <a:lnSpc>
                          <a:spcPts val="2080"/>
                        </a:lnSpc>
                      </a:pPr>
                      <a:r>
                        <a:rPr sz="1800" spc="-1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-0.140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138">
                <a:tc>
                  <a:txBody>
                    <a:bodyPr/>
                    <a:lstStyle/>
                    <a:p>
                      <a:pPr marR="436880" algn="r">
                        <a:lnSpc>
                          <a:spcPts val="2075"/>
                        </a:lnSpc>
                      </a:pPr>
                      <a:r>
                        <a:rPr sz="1800" spc="-1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12">
                <a:tc>
                  <a:txBody>
                    <a:bodyPr/>
                    <a:lstStyle/>
                    <a:p>
                      <a:pPr marR="436880" algn="r">
                        <a:lnSpc>
                          <a:spcPts val="2080"/>
                        </a:lnSpc>
                      </a:pPr>
                      <a:r>
                        <a:rPr sz="1800" spc="-1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-0.887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0.236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12">
                <a:tc>
                  <a:txBody>
                    <a:bodyPr/>
                    <a:lstStyle/>
                    <a:p>
                      <a:pPr marR="436880" algn="r">
                        <a:lnSpc>
                          <a:spcPts val="2080"/>
                        </a:lnSpc>
                      </a:pPr>
                      <a:r>
                        <a:rPr sz="1800" spc="-1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x6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43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3200400" cy="87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Interpret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217" y="5120132"/>
            <a:ext cx="523176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Arial"/>
                <a:cs typeface="Arial"/>
              </a:rPr>
              <a:t>Interpretation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 1 represents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health related</a:t>
            </a:r>
            <a:r>
              <a:rPr sz="1800" spc="5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benefits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0450" y="1746250"/>
          <a:ext cx="7004685" cy="31257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0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30275">
                        <a:lnSpc>
                          <a:spcPts val="2105"/>
                        </a:lnSpc>
                      </a:pPr>
                      <a:r>
                        <a:rPr sz="1800" spc="-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01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ts val="2105"/>
                        </a:lnSpc>
                      </a:pPr>
                      <a:r>
                        <a:rPr sz="18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ts val="2105"/>
                        </a:lnSpc>
                      </a:pPr>
                      <a:r>
                        <a:rPr sz="18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227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Prevention of</a:t>
                      </a: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Cavities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0.968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x2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936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Strong </a:t>
                      </a: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Gum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0.898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-0.140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89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x4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963"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Non Prevention </a:t>
                      </a: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4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Tooth</a:t>
                      </a:r>
                      <a:r>
                        <a:rPr sz="1800" spc="-5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Decay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-0.887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0.236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x6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44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3200400" cy="87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5</a:t>
            </a:r>
            <a:r>
              <a:rPr sz="1800" spc="-5" dirty="0">
                <a:latin typeface="Arial"/>
                <a:cs typeface="Arial"/>
              </a:rPr>
              <a:t>: Interpret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217" y="5120132"/>
            <a:ext cx="519366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Arial"/>
                <a:cs typeface="Arial"/>
              </a:rPr>
              <a:t>Interpretation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Component 2 represents </a:t>
            </a: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social related</a:t>
            </a:r>
            <a:r>
              <a:rPr sz="1800" spc="6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benefits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25625" y="1693926"/>
          <a:ext cx="7383779" cy="31003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44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5222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800" spc="-5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ts val="2135"/>
                        </a:lnSpc>
                      </a:pPr>
                      <a:r>
                        <a:rPr sz="18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2135"/>
                        </a:lnSpc>
                      </a:pPr>
                      <a:r>
                        <a:rPr sz="1800" dirty="0">
                          <a:solidFill>
                            <a:srgbClr val="99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Prevention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Cavities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0.968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Shiny</a:t>
                      </a:r>
                      <a:r>
                        <a:rPr sz="1800" spc="-3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Teeth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0.749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Strong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Gum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0.898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-0.140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Fresh</a:t>
                      </a:r>
                      <a:r>
                        <a:rPr sz="1800" spc="-1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Breath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0.784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Non Prevention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Tooth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Decay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-0.887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0.236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Attractive</a:t>
                      </a:r>
                      <a:r>
                        <a:rPr sz="1800" spc="-5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0" dirty="0">
                          <a:solidFill>
                            <a:srgbClr val="000099"/>
                          </a:solidFill>
                          <a:latin typeface="Arial"/>
                          <a:cs typeface="Arial"/>
                        </a:rPr>
                        <a:t>Teeth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0.830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410"/>
              </a:lnSpc>
            </a:pPr>
            <a:fld id="{81D60167-4931-47E6-BA6A-407CBD079E47}" type="slidenum">
              <a:rPr dirty="0">
                <a:latin typeface="Times New Roman"/>
                <a:cs typeface="Times New Roman"/>
              </a:rPr>
              <a:pPr marL="55880">
                <a:lnSpc>
                  <a:spcPts val="1410"/>
                </a:lnSpc>
              </a:pPr>
              <a:t>45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718769"/>
            <a:ext cx="3101340" cy="169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990000"/>
                </a:solidFill>
                <a:latin typeface="Arial"/>
                <a:cs typeface="Arial"/>
              </a:rPr>
              <a:t>FACTOR</a:t>
            </a:r>
            <a:r>
              <a:rPr sz="1800" b="1" spc="-30" dirty="0">
                <a:solidFill>
                  <a:srgbClr val="990000"/>
                </a:solidFill>
                <a:latin typeface="Arial"/>
                <a:cs typeface="Arial"/>
              </a:rPr>
              <a:t> ANALYSIS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99"/>
                </a:solidFill>
                <a:latin typeface="Arial"/>
                <a:cs typeface="Arial"/>
              </a:rPr>
              <a:t>Step </a:t>
            </a:r>
            <a:r>
              <a:rPr sz="1800" spc="-5" dirty="0">
                <a:solidFill>
                  <a:srgbClr val="000099"/>
                </a:solidFill>
                <a:latin typeface="Arial"/>
                <a:cs typeface="Arial"/>
              </a:rPr>
              <a:t>6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sz="1800" spc="-10" dirty="0">
                <a:latin typeface="Arial"/>
                <a:cs typeface="Arial"/>
              </a:rPr>
              <a:t>Reduced </a:t>
            </a:r>
            <a:r>
              <a:rPr sz="1800" spc="-5" dirty="0">
                <a:latin typeface="Arial"/>
                <a:cs typeface="Arial"/>
              </a:rPr>
              <a:t>Data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Set</a:t>
            </a:r>
            <a:endParaRPr sz="1800" dirty="0">
              <a:latin typeface="Arial"/>
              <a:cs typeface="Arial"/>
            </a:endParaRPr>
          </a:p>
          <a:p>
            <a:pPr marL="353695" indent="-162560">
              <a:lnSpc>
                <a:spcPct val="100000"/>
              </a:lnSpc>
              <a:spcBef>
                <a:spcPts val="1090"/>
              </a:spcBef>
              <a:buChar char="&gt;"/>
              <a:tabLst>
                <a:tab pos="354330" algn="l"/>
              </a:tabLst>
            </a:pPr>
            <a:r>
              <a:rPr sz="1800" spc="-5" dirty="0">
                <a:latin typeface="Liberation Sans Narrow"/>
                <a:cs typeface="Liberation Sans Narrow"/>
              </a:rPr>
              <a:t>output </a:t>
            </a:r>
            <a:r>
              <a:rPr sz="1800" dirty="0">
                <a:latin typeface="Liberation Sans Narrow"/>
                <a:cs typeface="Liberation Sans Narrow"/>
              </a:rPr>
              <a:t>=</a:t>
            </a:r>
            <a:r>
              <a:rPr sz="1800" spc="-30" dirty="0">
                <a:latin typeface="Liberation Sans Narrow"/>
                <a:cs typeface="Liberation Sans Narrow"/>
              </a:rPr>
              <a:t> </a:t>
            </a:r>
            <a:r>
              <a:rPr sz="1800" spc="-5" dirty="0">
                <a:latin typeface="Liberation Sans Narrow"/>
                <a:cs typeface="Liberation Sans Narrow"/>
              </a:rPr>
              <a:t>myrotatedmodel$scores</a:t>
            </a:r>
            <a:endParaRPr sz="1800" dirty="0">
              <a:latin typeface="Liberation Sans Narrow"/>
              <a:cs typeface="Liberation Sans Narrow"/>
            </a:endParaRPr>
          </a:p>
          <a:p>
            <a:pPr marL="353695" indent="-162560">
              <a:lnSpc>
                <a:spcPct val="100000"/>
              </a:lnSpc>
              <a:spcBef>
                <a:spcPts val="1070"/>
              </a:spcBef>
              <a:buChar char="&gt;"/>
              <a:tabLst>
                <a:tab pos="354330" algn="l"/>
              </a:tabLst>
            </a:pPr>
            <a:r>
              <a:rPr sz="1800" spc="-10" dirty="0">
                <a:latin typeface="Liberation Sans Narrow"/>
                <a:cs typeface="Liberation Sans Narrow"/>
              </a:rPr>
              <a:t>output</a:t>
            </a:r>
            <a:endParaRPr sz="1800" dirty="0">
              <a:latin typeface="Liberation Sans Narrow"/>
              <a:cs typeface="Liberation Sans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5512" y="2640076"/>
          <a:ext cx="5288911" cy="3928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5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Respondent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01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200" spc="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ct</a:t>
                      </a:r>
                      <a:r>
                        <a:rPr sz="1200" spc="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Factor2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Respondent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01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Fact</a:t>
                      </a:r>
                      <a:r>
                        <a:rPr sz="1200" spc="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Factor2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6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046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-0.2413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934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-0.342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01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952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-0.2556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714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-0.5502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6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629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-0.7569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1.501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4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747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1.0108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845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-0.6938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6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28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-1.3608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187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1.259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6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864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15" dirty="0">
                          <a:latin typeface="Arial"/>
                          <a:cs typeface="Arial"/>
                        </a:rPr>
                        <a:t>-0.2511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132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-0.8042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4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605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-0.9084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706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-0.0143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6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867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-0.0515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855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-0.1067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4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014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0.7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78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-0.6358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24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0.0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1.7277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6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446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-8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191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1.3473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821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-0.1881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567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85" dirty="0">
                          <a:latin typeface="Arial"/>
                          <a:cs typeface="Arial"/>
                        </a:rPr>
                        <a:t>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738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-0.6495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82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spc="-8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1.5195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014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785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-0.1976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675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-0.2914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796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-0.6989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606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0.7776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5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978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1.2286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29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0.</a:t>
                      </a:r>
                      <a:r>
                        <a:rPr sz="1200" spc="-8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spc="-15" dirty="0">
                          <a:latin typeface="Arial"/>
                          <a:cs typeface="Arial"/>
                        </a:rPr>
                        <a:t>2.1146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5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15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94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-0.7847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30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1.</a:t>
                      </a:r>
                      <a:r>
                        <a:rPr sz="1200" spc="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988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-0.9623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9809" y="172923"/>
            <a:ext cx="2962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5" dirty="0">
                <a:solidFill>
                  <a:srgbClr val="666633"/>
                </a:solidFill>
                <a:latin typeface="Comic Sans MS"/>
                <a:cs typeface="Comic Sans MS"/>
              </a:rPr>
              <a:t> </a:t>
            </a:r>
            <a:endParaRPr sz="1800" dirty="0">
              <a:latin typeface="Comic Sans MS"/>
              <a:cs typeface="Comic Sans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4227" y="2433827"/>
            <a:ext cx="5038725" cy="1228725"/>
            <a:chOff x="1824227" y="2433827"/>
            <a:chExt cx="5038725" cy="1228725"/>
          </a:xfrm>
        </p:grpSpPr>
        <p:sp>
          <p:nvSpPr>
            <p:cNvPr id="4" name="object 4"/>
            <p:cNvSpPr/>
            <p:nvPr/>
          </p:nvSpPr>
          <p:spPr>
            <a:xfrm>
              <a:off x="1828799" y="24383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482600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4826000" y="1219200"/>
                  </a:lnTo>
                  <a:lnTo>
                    <a:pt x="4872605" y="1213835"/>
                  </a:lnTo>
                  <a:lnTo>
                    <a:pt x="4915381" y="1198554"/>
                  </a:lnTo>
                  <a:lnTo>
                    <a:pt x="4953109" y="1174573"/>
                  </a:lnTo>
                  <a:lnTo>
                    <a:pt x="4984573" y="1143109"/>
                  </a:lnTo>
                  <a:lnTo>
                    <a:pt x="5008554" y="1105381"/>
                  </a:lnTo>
                  <a:lnTo>
                    <a:pt x="5023835" y="1062605"/>
                  </a:lnTo>
                  <a:lnTo>
                    <a:pt x="5029200" y="1016000"/>
                  </a:lnTo>
                  <a:lnTo>
                    <a:pt x="5029200" y="203200"/>
                  </a:lnTo>
                  <a:lnTo>
                    <a:pt x="5023835" y="156594"/>
                  </a:lnTo>
                  <a:lnTo>
                    <a:pt x="5008554" y="113818"/>
                  </a:lnTo>
                  <a:lnTo>
                    <a:pt x="4984573" y="76090"/>
                  </a:lnTo>
                  <a:lnTo>
                    <a:pt x="4953109" y="44626"/>
                  </a:lnTo>
                  <a:lnTo>
                    <a:pt x="4915381" y="20645"/>
                  </a:lnTo>
                  <a:lnTo>
                    <a:pt x="4872605" y="5364"/>
                  </a:lnTo>
                  <a:lnTo>
                    <a:pt x="4826000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28799" y="2438399"/>
              <a:ext cx="5029200" cy="1219200"/>
            </a:xfrm>
            <a:custGeom>
              <a:avLst/>
              <a:gdLst/>
              <a:ahLst/>
              <a:cxnLst/>
              <a:rect l="l" t="t" r="r" b="b"/>
              <a:pathLst>
                <a:path w="5029200" h="12192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4826000" y="0"/>
                  </a:lnTo>
                  <a:lnTo>
                    <a:pt x="4872605" y="5364"/>
                  </a:lnTo>
                  <a:lnTo>
                    <a:pt x="4915381" y="20645"/>
                  </a:lnTo>
                  <a:lnTo>
                    <a:pt x="4953109" y="44626"/>
                  </a:lnTo>
                  <a:lnTo>
                    <a:pt x="4984573" y="76090"/>
                  </a:lnTo>
                  <a:lnTo>
                    <a:pt x="5008554" y="113818"/>
                  </a:lnTo>
                  <a:lnTo>
                    <a:pt x="5023835" y="156594"/>
                  </a:lnTo>
                  <a:lnTo>
                    <a:pt x="5029200" y="203200"/>
                  </a:lnTo>
                  <a:lnTo>
                    <a:pt x="5029200" y="1016000"/>
                  </a:lnTo>
                  <a:lnTo>
                    <a:pt x="5023835" y="1062605"/>
                  </a:lnTo>
                  <a:lnTo>
                    <a:pt x="5008554" y="1105381"/>
                  </a:lnTo>
                  <a:lnTo>
                    <a:pt x="4984573" y="1143109"/>
                  </a:lnTo>
                  <a:lnTo>
                    <a:pt x="4953109" y="1174573"/>
                  </a:lnTo>
                  <a:lnTo>
                    <a:pt x="4915381" y="1198554"/>
                  </a:lnTo>
                  <a:lnTo>
                    <a:pt x="4872605" y="1213835"/>
                  </a:lnTo>
                  <a:lnTo>
                    <a:pt x="482600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2032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21914" y="2693035"/>
            <a:ext cx="2444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sz="22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FFFFFF"/>
                </a:solidFill>
                <a:latin typeface="Arial"/>
                <a:cs typeface="Arial"/>
              </a:rPr>
              <a:t>BASKET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200" b="1" spc="-3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60080" y="6290385"/>
            <a:ext cx="37401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46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260080" y="6290385"/>
            <a:ext cx="37401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47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985885" cy="2206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0000CC"/>
                </a:solidFill>
                <a:latin typeface="Arial"/>
                <a:cs typeface="Arial"/>
              </a:rPr>
              <a:t>modeling technique </a:t>
            </a: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based </a:t>
            </a:r>
            <a:r>
              <a:rPr sz="1800" spc="-5" dirty="0">
                <a:solidFill>
                  <a:srgbClr val="0000CC"/>
                </a:solidFill>
                <a:latin typeface="Arial"/>
                <a:cs typeface="Arial"/>
              </a:rPr>
              <a:t>upon </a:t>
            </a: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the logic </a:t>
            </a:r>
            <a:r>
              <a:rPr sz="1800" spc="-5" dirty="0">
                <a:solidFill>
                  <a:srgbClr val="0000CC"/>
                </a:solidFill>
                <a:latin typeface="Arial"/>
                <a:cs typeface="Arial"/>
              </a:rPr>
              <a:t>that if a customer buy a </a:t>
            </a: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certain </a:t>
            </a:r>
            <a:r>
              <a:rPr sz="1800" spc="-5" dirty="0">
                <a:solidFill>
                  <a:srgbClr val="0000CC"/>
                </a:solidFill>
                <a:latin typeface="Arial"/>
                <a:cs typeface="Arial"/>
              </a:rPr>
              <a:t>group </a:t>
            </a:r>
            <a:r>
              <a:rPr sz="1800" spc="5" dirty="0">
                <a:solidFill>
                  <a:srgbClr val="0000CC"/>
                </a:solidFill>
                <a:latin typeface="Arial"/>
                <a:cs typeface="Arial"/>
              </a:rPr>
              <a:t>of  </a:t>
            </a: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items, </a:t>
            </a:r>
            <a:r>
              <a:rPr sz="1800" spc="-5" dirty="0">
                <a:solidFill>
                  <a:srgbClr val="0000CC"/>
                </a:solidFill>
                <a:latin typeface="Arial"/>
                <a:cs typeface="Arial"/>
              </a:rPr>
              <a:t>he is more (or less) likely </a:t>
            </a: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0000CC"/>
                </a:solidFill>
                <a:latin typeface="Arial"/>
                <a:cs typeface="Arial"/>
              </a:rPr>
              <a:t>buy another group of</a:t>
            </a:r>
            <a:r>
              <a:rPr sz="1800" spc="80" dirty="0">
                <a:solidFill>
                  <a:srgbClr val="0000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CC"/>
                </a:solidFill>
                <a:latin typeface="Arial"/>
                <a:cs typeface="Arial"/>
              </a:rPr>
              <a:t>items</a:t>
            </a:r>
            <a:endParaRPr sz="1800" dirty="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1685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latin typeface="Arial"/>
                <a:cs typeface="Arial"/>
              </a:rPr>
              <a:t>Those </a:t>
            </a:r>
            <a:r>
              <a:rPr sz="1800" spc="-15" dirty="0">
                <a:latin typeface="Arial"/>
                <a:cs typeface="Arial"/>
              </a:rPr>
              <a:t>who </a:t>
            </a:r>
            <a:r>
              <a:rPr sz="1800" spc="-5" dirty="0">
                <a:latin typeface="Arial"/>
                <a:cs typeface="Arial"/>
              </a:rPr>
              <a:t>buy cigarettes are more likely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buy </a:t>
            </a:r>
            <a:r>
              <a:rPr sz="1800" dirty="0">
                <a:latin typeface="Arial"/>
                <a:cs typeface="Arial"/>
              </a:rPr>
              <a:t>match </a:t>
            </a:r>
            <a:r>
              <a:rPr sz="1800" spc="-5" dirty="0">
                <a:latin typeface="Arial"/>
                <a:cs typeface="Arial"/>
              </a:rPr>
              <a:t>box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also.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61" y="250952"/>
            <a:ext cx="8980677" cy="276999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681720" cy="2587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Association Rule</a:t>
            </a:r>
            <a:r>
              <a:rPr sz="1800" spc="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Mining: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tabLst>
                <a:tab pos="2595880" algn="l"/>
                <a:tab pos="3106420" algn="l"/>
                <a:tab pos="3923665" algn="l"/>
                <a:tab pos="4370070" algn="l"/>
                <a:tab pos="5629275" algn="l"/>
                <a:tab pos="5949315" algn="l"/>
                <a:tab pos="6269355" algn="l"/>
                <a:tab pos="6653530" algn="l"/>
                <a:tab pos="7214234" algn="l"/>
                <a:tab pos="7966075" algn="l"/>
                <a:tab pos="8350250" algn="l"/>
              </a:tabLst>
            </a:pPr>
            <a:r>
              <a:rPr sz="180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veloping 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</a:t>
            </a:r>
            <a:r>
              <a:rPr sz="1800" spc="5" dirty="0">
                <a:latin typeface="Arial"/>
                <a:cs typeface="Arial"/>
              </a:rPr>
              <a:t>l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s	th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t	</a:t>
            </a:r>
            <a:r>
              <a:rPr sz="1800" spc="-10" dirty="0">
                <a:latin typeface="Arial"/>
                <a:cs typeface="Arial"/>
              </a:rPr>
              <a:t>p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di</a:t>
            </a:r>
            <a:r>
              <a:rPr sz="1800" spc="5" dirty="0">
                <a:latin typeface="Arial"/>
                <a:cs typeface="Arial"/>
              </a:rPr>
              <a:t>c</a:t>
            </a:r>
            <a:r>
              <a:rPr sz="1800" dirty="0">
                <a:latin typeface="Arial"/>
                <a:cs typeface="Arial"/>
              </a:rPr>
              <a:t>t	the	</a:t>
            </a:r>
            <a:r>
              <a:rPr sz="1800" spc="-10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cc</a:t>
            </a:r>
            <a:r>
              <a:rPr sz="1800" spc="-10" dirty="0">
                <a:latin typeface="Arial"/>
                <a:cs typeface="Arial"/>
              </a:rPr>
              <a:t>u</a:t>
            </a:r>
            <a:r>
              <a:rPr sz="1800" dirty="0">
                <a:latin typeface="Arial"/>
                <a:cs typeface="Arial"/>
              </a:rPr>
              <a:t>rr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nce	</a:t>
            </a:r>
            <a:r>
              <a:rPr sz="1800" spc="-10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f	</a:t>
            </a:r>
            <a:r>
              <a:rPr sz="1800" spc="-10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f	</a:t>
            </a:r>
            <a:r>
              <a:rPr sz="1800" spc="-1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n	it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m	</a:t>
            </a:r>
            <a:r>
              <a:rPr sz="1800" spc="-10" dirty="0">
                <a:latin typeface="Arial"/>
                <a:cs typeface="Arial"/>
              </a:rPr>
              <a:t>ba</a:t>
            </a:r>
            <a:r>
              <a:rPr sz="1800" dirty="0">
                <a:latin typeface="Arial"/>
                <a:cs typeface="Arial"/>
              </a:rPr>
              <a:t>sed	</a:t>
            </a:r>
            <a:r>
              <a:rPr sz="1800" spc="-10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n	the</a:t>
            </a:r>
            <a:endParaRPr sz="18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occurrence of other </a:t>
            </a:r>
            <a:r>
              <a:rPr sz="1800" dirty="0">
                <a:latin typeface="Arial"/>
                <a:cs typeface="Arial"/>
              </a:rPr>
              <a:t>items </a:t>
            </a:r>
            <a:r>
              <a:rPr sz="1800" spc="-5" dirty="0">
                <a:latin typeface="Arial"/>
                <a:cs typeface="Arial"/>
              </a:rPr>
              <a:t>in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transaction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780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52512" y="3414712"/>
          <a:ext cx="60960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Bread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Eggs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Milk,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Biscuits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4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Bread, Biscuits,</a:t>
                      </a:r>
                      <a:r>
                        <a:rPr sz="1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8340" y="5895543"/>
            <a:ext cx="1320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{Milk,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Bread}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0427" y="5895543"/>
            <a:ext cx="3307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800" spc="-5" dirty="0">
                <a:latin typeface="Arial"/>
                <a:cs typeface="Arial"/>
              </a:rPr>
              <a:t>{Biscuits}	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probability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</a:t>
            </a:r>
            <a:r>
              <a:rPr sz="1800" dirty="0">
                <a:latin typeface="Arial"/>
                <a:cs typeface="Arial"/>
              </a:rPr>
              <a:t>/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7400" y="5981700"/>
            <a:ext cx="1524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60080" y="6290385"/>
            <a:ext cx="37401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48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8260080" y="6290385"/>
            <a:ext cx="37401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49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4369435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Itemset: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"/>
              <a:cs typeface="Arial"/>
            </a:endParaRPr>
          </a:p>
          <a:p>
            <a:pPr marL="343535"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collection of </a:t>
            </a:r>
            <a:r>
              <a:rPr sz="1800" spc="-10" dirty="0">
                <a:latin typeface="Arial"/>
                <a:cs typeface="Arial"/>
              </a:rPr>
              <a:t>one </a:t>
            </a:r>
            <a:r>
              <a:rPr sz="1800" spc="-5" dirty="0">
                <a:latin typeface="Arial"/>
                <a:cs typeface="Arial"/>
              </a:rPr>
              <a:t>or more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k –</a:t>
            </a: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itemset</a:t>
            </a:r>
            <a:endParaRPr sz="18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An itemset consisting </a:t>
            </a:r>
            <a:r>
              <a:rPr sz="1800" dirty="0">
                <a:latin typeface="Arial"/>
                <a:cs typeface="Arial"/>
              </a:rPr>
              <a:t>of k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52512" y="3414712"/>
          <a:ext cx="60960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Bread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Eggs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Milk,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Biscuits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4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Bread, Biscuits,</a:t>
                      </a:r>
                      <a:r>
                        <a:rPr sz="1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8260080" y="6290385"/>
            <a:ext cx="37401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dirty="0">
                <a:latin typeface="Arial"/>
                <a:cs typeface="Arial"/>
              </a:rPr>
              <a:pPr marL="38100">
                <a:lnSpc>
                  <a:spcPts val="1650"/>
                </a:lnSpc>
              </a:pPr>
              <a:t>50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4610100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Support</a:t>
            </a:r>
            <a:r>
              <a:rPr sz="1800" spc="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count: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Frequency of occurrence of an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itemset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  <a:p>
            <a:pPr marL="299720" algn="ctr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{Milk, Bread, Biscuits}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=</a:t>
            </a:r>
            <a:r>
              <a:rPr sz="1800" spc="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52512" y="3414712"/>
          <a:ext cx="60960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Bread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Eggs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Milk,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Biscuits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4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Bread, Biscuits,</a:t>
                      </a:r>
                      <a:r>
                        <a:rPr sz="1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85480" y="6273495"/>
            <a:ext cx="322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121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037843"/>
            <a:ext cx="9144000" cy="58419"/>
          </a:xfrm>
          <a:custGeom>
            <a:avLst/>
            <a:gdLst/>
            <a:ahLst/>
            <a:cxnLst/>
            <a:rect l="l" t="t" r="r" b="b"/>
            <a:pathLst>
              <a:path w="9144000" h="58419">
                <a:moveTo>
                  <a:pt x="9144000" y="23114"/>
                </a:moveTo>
                <a:lnTo>
                  <a:pt x="0" y="23114"/>
                </a:lnTo>
                <a:lnTo>
                  <a:pt x="0" y="57912"/>
                </a:lnTo>
                <a:lnTo>
                  <a:pt x="9144000" y="57912"/>
                </a:lnTo>
                <a:lnTo>
                  <a:pt x="9144000" y="23114"/>
                </a:lnTo>
                <a:close/>
              </a:path>
              <a:path w="9144000" h="58419">
                <a:moveTo>
                  <a:pt x="9144000" y="0"/>
                </a:moveTo>
                <a:lnTo>
                  <a:pt x="0" y="0"/>
                </a:lnTo>
                <a:lnTo>
                  <a:pt x="0" y="11557"/>
                </a:lnTo>
                <a:lnTo>
                  <a:pt x="9144000" y="11557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307340" y="6405182"/>
            <a:ext cx="7134859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"/>
                <a:cs typeface="Arial"/>
              </a:rPr>
              <a:t>An itemset </a:t>
            </a:r>
            <a:r>
              <a:rPr sz="1800" spc="-15" dirty="0">
                <a:latin typeface="Arial"/>
                <a:cs typeface="Arial"/>
              </a:rPr>
              <a:t>whose </a:t>
            </a:r>
            <a:r>
              <a:rPr sz="1800" spc="-5" dirty="0">
                <a:latin typeface="Arial"/>
                <a:cs typeface="Arial"/>
              </a:rPr>
              <a:t>support is greater than or equal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minimum</a:t>
            </a:r>
            <a:r>
              <a:rPr sz="1800" spc="1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support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59053"/>
            <a:ext cx="6644005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Support</a:t>
            </a:r>
            <a:r>
              <a:rPr sz="1800" spc="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Proportion or fraction of transaction that contain an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itemset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{Milk, Bread, Biscuits}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</a:t>
            </a:r>
            <a:r>
              <a:rPr sz="1800" dirty="0">
                <a:latin typeface="Arial"/>
                <a:cs typeface="Arial"/>
              </a:rPr>
              <a:t>/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52512" y="3414712"/>
          <a:ext cx="60960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Bread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Eggs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Milk,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Biscuits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4">
                <a:tc>
                  <a:txBody>
                    <a:bodyPr/>
                    <a:lstStyle/>
                    <a:p>
                      <a:pPr marR="3473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Bread, Biscuits,</a:t>
                      </a:r>
                      <a:r>
                        <a:rPr sz="1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07340" y="5971743"/>
            <a:ext cx="1753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</a:t>
            </a:r>
            <a:r>
              <a:rPr sz="1800" spc="-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Itemset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608695" cy="2877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Confidence</a:t>
            </a:r>
            <a:endParaRPr sz="18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"/>
                <a:cs typeface="Arial"/>
              </a:rPr>
              <a:t>Conditional </a:t>
            </a:r>
            <a:r>
              <a:rPr sz="1800" spc="-5" dirty="0">
                <a:latin typeface="Arial"/>
                <a:cs typeface="Arial"/>
              </a:rPr>
              <a:t>probability that an item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10" dirty="0">
                <a:latin typeface="Arial"/>
                <a:cs typeface="Arial"/>
              </a:rPr>
              <a:t>appear </a:t>
            </a:r>
            <a:r>
              <a:rPr sz="1800" dirty="0">
                <a:latin typeface="Arial"/>
                <a:cs typeface="Arial"/>
              </a:rPr>
              <a:t>in </a:t>
            </a:r>
            <a:r>
              <a:rPr sz="1800" spc="-5" dirty="0">
                <a:latin typeface="Arial"/>
                <a:cs typeface="Arial"/>
              </a:rPr>
              <a:t>transactions that contain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another</a:t>
            </a:r>
            <a:endParaRPr sz="18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items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840"/>
              </a:spcBef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Confidence that </a:t>
            </a:r>
            <a:r>
              <a:rPr sz="1800" spc="-55" dirty="0">
                <a:latin typeface="Arial"/>
                <a:cs typeface="Arial"/>
              </a:rPr>
              <a:t>Toys </a:t>
            </a:r>
            <a:r>
              <a:rPr sz="1800" spc="-15" dirty="0">
                <a:latin typeface="Arial"/>
                <a:cs typeface="Arial"/>
              </a:rPr>
              <a:t>will </a:t>
            </a:r>
            <a:r>
              <a:rPr sz="1800" spc="-5" dirty="0">
                <a:latin typeface="Arial"/>
                <a:cs typeface="Arial"/>
              </a:rPr>
              <a:t>appear in transaction containing Milk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20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Biscuits</a:t>
            </a:r>
            <a:endParaRPr sz="180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{Milk, Biscuits, </a:t>
            </a:r>
            <a:r>
              <a:rPr sz="1800" spc="-45" dirty="0">
                <a:latin typeface="Arial"/>
                <a:cs typeface="Arial"/>
              </a:rPr>
              <a:t>Toys} </a:t>
            </a:r>
            <a:r>
              <a:rPr sz="1800" dirty="0">
                <a:latin typeface="Arial"/>
                <a:cs typeface="Arial"/>
              </a:rPr>
              <a:t>/ </a:t>
            </a:r>
            <a:r>
              <a:rPr sz="1800" spc="-5" dirty="0">
                <a:latin typeface="Arial"/>
                <a:cs typeface="Arial"/>
              </a:rPr>
              <a:t>{Milk, Biscuits} </a:t>
            </a:r>
            <a:r>
              <a:rPr sz="1800" dirty="0">
                <a:latin typeface="Arial"/>
                <a:cs typeface="Arial"/>
              </a:rPr>
              <a:t>= 2 / 3 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0.67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6712" y="3795712"/>
          <a:ext cx="71628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800000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R="6851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Bread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R="6851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Eggs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6851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Biscuits,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R="6851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Bread, Milk, 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Toys,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Biscuits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9">
                <a:tc>
                  <a:txBody>
                    <a:bodyPr/>
                    <a:lstStyle/>
                    <a:p>
                      <a:pPr marR="6851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Milk, Bread, Biscuits,</a:t>
                      </a:r>
                      <a:r>
                        <a:rPr sz="1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Fruits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6565265" cy="402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Association Rule</a:t>
            </a:r>
            <a:r>
              <a:rPr sz="1800" spc="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Mining</a:t>
            </a:r>
            <a:endParaRPr sz="1800" dirty="0">
              <a:latin typeface="Arial"/>
              <a:cs typeface="Arial"/>
            </a:endParaRPr>
          </a:p>
          <a:p>
            <a:pPr marL="660400" indent="-34290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659765" algn="l"/>
                <a:tab pos="660400" algn="l"/>
              </a:tabLst>
            </a:pP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Frequent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Itemset</a:t>
            </a:r>
            <a:r>
              <a:rPr sz="1800" spc="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Generation</a:t>
            </a:r>
            <a:endParaRPr sz="1800" dirty="0">
              <a:latin typeface="Arial"/>
              <a:cs typeface="Arial"/>
            </a:endParaRPr>
          </a:p>
          <a:p>
            <a:pPr marL="66040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Arial"/>
                <a:cs typeface="Arial"/>
              </a:rPr>
              <a:t>Fix </a:t>
            </a:r>
            <a:r>
              <a:rPr sz="1800" spc="-5" dirty="0">
                <a:latin typeface="Arial"/>
                <a:cs typeface="Arial"/>
              </a:rPr>
              <a:t>minimum support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</a:t>
            </a:r>
            <a:endParaRPr sz="1800" dirty="0">
              <a:latin typeface="Arial"/>
              <a:cs typeface="Arial"/>
            </a:endParaRPr>
          </a:p>
          <a:p>
            <a:pPr marL="6604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Generate all </a:t>
            </a:r>
            <a:r>
              <a:rPr sz="1800" dirty="0">
                <a:latin typeface="Arial"/>
                <a:cs typeface="Arial"/>
              </a:rPr>
              <a:t>itemsets </a:t>
            </a:r>
            <a:r>
              <a:rPr sz="1800" spc="-10" dirty="0">
                <a:latin typeface="Arial"/>
                <a:cs typeface="Arial"/>
              </a:rPr>
              <a:t>whose </a:t>
            </a:r>
            <a:r>
              <a:rPr sz="1800" spc="-5" dirty="0">
                <a:latin typeface="Arial"/>
                <a:cs typeface="Arial"/>
              </a:rPr>
              <a:t>support </a:t>
            </a:r>
            <a:r>
              <a:rPr sz="1800" dirty="0">
                <a:latin typeface="Symbol"/>
                <a:cs typeface="Symbol"/>
              </a:rPr>
              <a:t>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"/>
                <a:cs typeface="Arial"/>
              </a:rPr>
              <a:t>minimum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support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 dirty="0">
              <a:latin typeface="Arial"/>
              <a:cs typeface="Arial"/>
            </a:endParaRPr>
          </a:p>
          <a:p>
            <a:pPr marL="533400" indent="-254635">
              <a:lnSpc>
                <a:spcPct val="100000"/>
              </a:lnSpc>
              <a:buAutoNum type="arabicPeriod" startAt="2"/>
              <a:tabLst>
                <a:tab pos="534035" algn="l"/>
              </a:tabLst>
            </a:pP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Rule</a:t>
            </a:r>
            <a:r>
              <a:rPr sz="180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Generation</a:t>
            </a:r>
            <a:endParaRPr sz="1800" dirty="0">
              <a:latin typeface="Arial"/>
              <a:cs typeface="Arial"/>
            </a:endParaRPr>
          </a:p>
          <a:p>
            <a:pPr marL="59626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Fix </a:t>
            </a:r>
            <a:r>
              <a:rPr sz="1800" spc="-5" dirty="0">
                <a:latin typeface="Arial"/>
                <a:cs typeface="Arial"/>
              </a:rPr>
              <a:t>minimum confidence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</a:t>
            </a:r>
            <a:endParaRPr sz="1800" dirty="0">
              <a:latin typeface="Arial"/>
              <a:cs typeface="Arial"/>
            </a:endParaRPr>
          </a:p>
          <a:p>
            <a:pPr marL="596265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Arial"/>
                <a:cs typeface="Arial"/>
              </a:rPr>
              <a:t>Generate high confidence rules </a:t>
            </a:r>
            <a:r>
              <a:rPr sz="1800" dirty="0">
                <a:latin typeface="Arial"/>
                <a:cs typeface="Arial"/>
              </a:rPr>
              <a:t>from </a:t>
            </a:r>
            <a:r>
              <a:rPr sz="1800" spc="-5" dirty="0">
                <a:latin typeface="Arial"/>
                <a:cs typeface="Arial"/>
              </a:rPr>
              <a:t>each frequent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itemset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7449184" cy="3045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660400" indent="-342900">
              <a:lnSpc>
                <a:spcPct val="100000"/>
              </a:lnSpc>
              <a:spcBef>
                <a:spcPts val="1080"/>
              </a:spcBef>
              <a:buAutoNum type="alphaLcPeriod"/>
              <a:tabLst>
                <a:tab pos="659765" algn="l"/>
                <a:tab pos="660400" algn="l"/>
              </a:tabLst>
            </a:pPr>
            <a:r>
              <a:rPr sz="1800" dirty="0">
                <a:latin typeface="Arial"/>
                <a:cs typeface="Arial"/>
              </a:rPr>
              <a:t>Fix </a:t>
            </a:r>
            <a:r>
              <a:rPr sz="1800" spc="-5" dirty="0">
                <a:latin typeface="Arial"/>
                <a:cs typeface="Arial"/>
              </a:rPr>
              <a:t>minimum support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count</a:t>
            </a:r>
          </a:p>
          <a:p>
            <a:pPr marL="660400" indent="-342900">
              <a:lnSpc>
                <a:spcPct val="100000"/>
              </a:lnSpc>
              <a:spcBef>
                <a:spcPts val="1085"/>
              </a:spcBef>
              <a:buAutoNum type="alphaLcPeriod"/>
              <a:tabLst>
                <a:tab pos="659765" algn="l"/>
                <a:tab pos="660400" algn="l"/>
                <a:tab pos="4090035" algn="l"/>
              </a:tabLst>
            </a:pPr>
            <a:r>
              <a:rPr sz="1800" spc="-5" dirty="0">
                <a:latin typeface="Arial"/>
                <a:cs typeface="Arial"/>
              </a:rPr>
              <a:t>Generate all </a:t>
            </a:r>
            <a:r>
              <a:rPr sz="1800" dirty="0">
                <a:latin typeface="Arial"/>
                <a:cs typeface="Arial"/>
              </a:rPr>
              <a:t>itemsets of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length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	</a:t>
            </a:r>
            <a:r>
              <a:rPr sz="1800" spc="-5" dirty="0">
                <a:latin typeface="Arial"/>
                <a:cs typeface="Arial"/>
              </a:rPr>
              <a:t>1</a:t>
            </a:r>
            <a:endParaRPr sz="1800" dirty="0">
              <a:latin typeface="Arial"/>
              <a:cs typeface="Arial"/>
            </a:endParaRPr>
          </a:p>
          <a:p>
            <a:pPr marL="660400" indent="-342900">
              <a:lnSpc>
                <a:spcPct val="100000"/>
              </a:lnSpc>
              <a:spcBef>
                <a:spcPts val="1080"/>
              </a:spcBef>
              <a:buAutoNum type="alphaLcPeriod"/>
              <a:tabLst>
                <a:tab pos="659765" algn="l"/>
                <a:tab pos="660400" algn="l"/>
              </a:tabLst>
            </a:pPr>
            <a:r>
              <a:rPr sz="1800" spc="-5" dirty="0">
                <a:latin typeface="Arial"/>
                <a:cs typeface="Arial"/>
              </a:rPr>
              <a:t>Calculate the support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each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itemset</a:t>
            </a:r>
          </a:p>
          <a:p>
            <a:pPr marL="660400" indent="-342900">
              <a:lnSpc>
                <a:spcPct val="100000"/>
              </a:lnSpc>
              <a:spcBef>
                <a:spcPts val="1080"/>
              </a:spcBef>
              <a:buAutoNum type="alphaLcPeriod"/>
              <a:tabLst>
                <a:tab pos="659765" algn="l"/>
                <a:tab pos="660400" algn="l"/>
                <a:tab pos="4859020" algn="l"/>
              </a:tabLst>
            </a:pPr>
            <a:r>
              <a:rPr sz="1800" spc="-5" dirty="0">
                <a:latin typeface="Arial"/>
                <a:cs typeface="Arial"/>
              </a:rPr>
              <a:t>Eliminate all </a:t>
            </a:r>
            <a:r>
              <a:rPr sz="1800" dirty="0">
                <a:latin typeface="Arial"/>
                <a:cs typeface="Arial"/>
              </a:rPr>
              <a:t>itemsets </a:t>
            </a:r>
            <a:r>
              <a:rPr sz="1800" spc="-15" dirty="0">
                <a:latin typeface="Arial"/>
                <a:cs typeface="Arial"/>
              </a:rPr>
              <a:t>with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support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count	</a:t>
            </a:r>
            <a:r>
              <a:rPr sz="1800" dirty="0">
                <a:latin typeface="Arial"/>
                <a:cs typeface="Arial"/>
              </a:rPr>
              <a:t>&lt; </a:t>
            </a:r>
            <a:r>
              <a:rPr sz="1800" spc="-5" dirty="0">
                <a:latin typeface="Arial"/>
                <a:cs typeface="Arial"/>
              </a:rPr>
              <a:t>minimum support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count</a:t>
            </a:r>
            <a:endParaRPr sz="1800" dirty="0">
              <a:latin typeface="Arial"/>
              <a:cs typeface="Arial"/>
            </a:endParaRPr>
          </a:p>
          <a:p>
            <a:pPr marL="660400" indent="-342900">
              <a:lnSpc>
                <a:spcPct val="100000"/>
              </a:lnSpc>
              <a:spcBef>
                <a:spcPts val="1080"/>
              </a:spcBef>
              <a:buAutoNum type="alphaLcPeriod"/>
              <a:tabLst>
                <a:tab pos="659765" algn="l"/>
                <a:tab pos="660400" algn="l"/>
              </a:tabLst>
            </a:pPr>
            <a:r>
              <a:rPr sz="1800" spc="-5" dirty="0">
                <a:latin typeface="Arial"/>
                <a:cs typeface="Arial"/>
              </a:rPr>
              <a:t>Repeat </a:t>
            </a:r>
            <a:r>
              <a:rPr sz="1800" dirty="0">
                <a:latin typeface="Arial"/>
                <a:cs typeface="Arial"/>
              </a:rPr>
              <a:t>steps c &amp; d for itemsets of </a:t>
            </a:r>
            <a:r>
              <a:rPr sz="1800" spc="-5" dirty="0">
                <a:latin typeface="Arial"/>
                <a:cs typeface="Arial"/>
              </a:rPr>
              <a:t>length </a:t>
            </a:r>
            <a:r>
              <a:rPr sz="1800" dirty="0">
                <a:latin typeface="Arial"/>
                <a:cs typeface="Arial"/>
              </a:rPr>
              <a:t>= 2, 3,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---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5040630" cy="1901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2576512"/>
          <a:ext cx="5334000" cy="2560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5143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A,C,D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A,B,C,E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6520815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93700" marR="3319145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sz="18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1:</a:t>
            </a:r>
            <a:endParaRPr sz="1800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Generate itemsets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5" dirty="0">
                <a:latin typeface="Arial"/>
                <a:cs typeface="Arial"/>
              </a:rPr>
              <a:t>length </a:t>
            </a:r>
            <a:r>
              <a:rPr sz="1800" dirty="0">
                <a:latin typeface="Arial"/>
                <a:cs typeface="Arial"/>
              </a:rPr>
              <a:t>= 1 &amp; </a:t>
            </a:r>
            <a:r>
              <a:rPr sz="1800" spc="-5" dirty="0">
                <a:latin typeface="Arial"/>
                <a:cs typeface="Arial"/>
              </a:rPr>
              <a:t>calculate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support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754437"/>
          <a:ext cx="53340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045450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93700" marR="4843780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sz="18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2:</a:t>
            </a:r>
            <a:endParaRPr sz="1800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eliminate itemsets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support count </a:t>
            </a:r>
            <a:r>
              <a:rPr sz="1800" dirty="0">
                <a:latin typeface="Arial"/>
                <a:cs typeface="Arial"/>
              </a:rPr>
              <a:t>&lt; </a:t>
            </a:r>
            <a:r>
              <a:rPr sz="1800" spc="-5" dirty="0">
                <a:latin typeface="Arial"/>
                <a:cs typeface="Arial"/>
              </a:rPr>
              <a:t>minimum support count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(2)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754437"/>
          <a:ext cx="53340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045450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93700" marR="4843780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sz="18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2:</a:t>
            </a:r>
            <a:endParaRPr sz="1800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eliminate itemsets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support count </a:t>
            </a:r>
            <a:r>
              <a:rPr sz="1800" dirty="0">
                <a:latin typeface="Arial"/>
                <a:cs typeface="Arial"/>
              </a:rPr>
              <a:t>&lt; </a:t>
            </a:r>
            <a:r>
              <a:rPr sz="1800" spc="-5" dirty="0">
                <a:latin typeface="Arial"/>
                <a:cs typeface="Arial"/>
              </a:rPr>
              <a:t>minimum support count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(2)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754437"/>
          <a:ext cx="5334000" cy="1828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59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5040630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93700" marR="1838960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sz="18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3:</a:t>
            </a:r>
            <a:endParaRPr sz="1800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  <a:tabLst>
                <a:tab pos="4191000" algn="l"/>
              </a:tabLst>
            </a:pPr>
            <a:r>
              <a:rPr sz="1800" spc="-10" dirty="0">
                <a:latin typeface="Arial"/>
                <a:cs typeface="Arial"/>
              </a:rPr>
              <a:t>generate </a:t>
            </a:r>
            <a:r>
              <a:rPr sz="1800" spc="-5" dirty="0">
                <a:latin typeface="Arial"/>
                <a:cs typeface="Arial"/>
              </a:rPr>
              <a:t>itemsets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length	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754437"/>
          <a:ext cx="5334000" cy="2560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L="965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594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95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61">
                <a:tc>
                  <a:txBody>
                    <a:bodyPr/>
                    <a:lstStyle/>
                    <a:p>
                      <a:pPr marL="9594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98">
                <a:tc>
                  <a:txBody>
                    <a:bodyPr/>
                    <a:lstStyle/>
                    <a:p>
                      <a:pPr marL="965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10">
                <a:tc>
                  <a:txBody>
                    <a:bodyPr/>
                    <a:lstStyle/>
                    <a:p>
                      <a:pPr marL="989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045450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93700" marR="4843780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sz="18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4:</a:t>
            </a:r>
            <a:endParaRPr sz="1800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eliminate itemsets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support count </a:t>
            </a:r>
            <a:r>
              <a:rPr sz="1800" dirty="0">
                <a:latin typeface="Arial"/>
                <a:cs typeface="Arial"/>
              </a:rPr>
              <a:t>&lt; </a:t>
            </a:r>
            <a:r>
              <a:rPr sz="1800" spc="-5" dirty="0">
                <a:latin typeface="Arial"/>
                <a:cs typeface="Arial"/>
              </a:rPr>
              <a:t>minimum support count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(2)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754437"/>
          <a:ext cx="5334000" cy="2560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L="965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594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95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61">
                <a:tc>
                  <a:txBody>
                    <a:bodyPr/>
                    <a:lstStyle/>
                    <a:p>
                      <a:pPr marL="9594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98">
                <a:tc>
                  <a:txBody>
                    <a:bodyPr/>
                    <a:lstStyle/>
                    <a:p>
                      <a:pPr marL="965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10">
                <a:tc>
                  <a:txBody>
                    <a:bodyPr/>
                    <a:lstStyle/>
                    <a:p>
                      <a:pPr marL="989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045450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93700" marR="4843780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sz="18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4:</a:t>
            </a:r>
            <a:endParaRPr sz="1800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Arial"/>
                <a:cs typeface="Arial"/>
              </a:rPr>
              <a:t>eliminate itemsets </a:t>
            </a:r>
            <a:r>
              <a:rPr sz="1800" spc="-10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support count </a:t>
            </a:r>
            <a:r>
              <a:rPr sz="1800" dirty="0">
                <a:latin typeface="Arial"/>
                <a:cs typeface="Arial"/>
              </a:rPr>
              <a:t>&lt; </a:t>
            </a:r>
            <a:r>
              <a:rPr sz="1800" spc="-5" dirty="0">
                <a:latin typeface="Arial"/>
                <a:cs typeface="Arial"/>
              </a:rPr>
              <a:t>minimum support count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(2)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754437"/>
          <a:ext cx="5334000" cy="2194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57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L="9594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95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594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965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9">
                <a:tc>
                  <a:txBody>
                    <a:bodyPr/>
                    <a:lstStyle/>
                    <a:p>
                      <a:pPr marL="989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5040630" cy="2847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 dirty="0">
              <a:latin typeface="Arial"/>
              <a:cs typeface="Arial"/>
            </a:endParaRPr>
          </a:p>
          <a:p>
            <a:pPr marL="393700" marR="1838960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sz="18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33399"/>
                </a:solidFill>
                <a:latin typeface="Arial"/>
                <a:cs typeface="Arial"/>
              </a:rPr>
              <a:t>5:</a:t>
            </a:r>
            <a:endParaRPr sz="1800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  <a:tabLst>
                <a:tab pos="4191000" algn="l"/>
              </a:tabLst>
            </a:pPr>
            <a:r>
              <a:rPr sz="1800" spc="-10" dirty="0">
                <a:latin typeface="Arial"/>
                <a:cs typeface="Arial"/>
              </a:rPr>
              <a:t>generate </a:t>
            </a:r>
            <a:r>
              <a:rPr sz="1800" spc="-5" dirty="0">
                <a:latin typeface="Arial"/>
                <a:cs typeface="Arial"/>
              </a:rPr>
              <a:t>itemsets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length	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884729"/>
              </p:ext>
            </p:extLst>
          </p:nvPr>
        </p:nvGraphicFramePr>
        <p:xfrm>
          <a:off x="838200" y="3492168"/>
          <a:ext cx="5334000" cy="10971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 C,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 C,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739" y="4589319"/>
            <a:ext cx="5179061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700" marR="1838960">
              <a:lnSpc>
                <a:spcPts val="4200"/>
              </a:lnSpc>
              <a:spcBef>
                <a:spcPts val="245"/>
              </a:spcBef>
            </a:pPr>
            <a:r>
              <a:rPr lang="en-US" spc="-5" dirty="0">
                <a:solidFill>
                  <a:srgbClr val="333399"/>
                </a:solidFill>
                <a:latin typeface="Arial"/>
                <a:cs typeface="Arial"/>
              </a:rPr>
              <a:t>Step</a:t>
            </a:r>
            <a:r>
              <a:rPr lang="en-US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3399"/>
                </a:solidFill>
                <a:latin typeface="Arial"/>
                <a:cs typeface="Arial"/>
              </a:rPr>
              <a:t>6:</a:t>
            </a:r>
            <a:endParaRPr lang="en-US" dirty="0">
              <a:latin typeface="Arial"/>
              <a:cs typeface="Arial"/>
            </a:endParaRPr>
          </a:p>
          <a:p>
            <a:pPr marL="1308100">
              <a:lnSpc>
                <a:spcPct val="100000"/>
              </a:lnSpc>
              <a:spcBef>
                <a:spcPts val="600"/>
              </a:spcBef>
              <a:tabLst>
                <a:tab pos="4191000" algn="l"/>
              </a:tabLst>
            </a:pPr>
            <a:r>
              <a:rPr lang="en-US" spc="-10" dirty="0">
                <a:latin typeface="Arial"/>
                <a:cs typeface="Arial"/>
              </a:rPr>
              <a:t>generate </a:t>
            </a:r>
            <a:r>
              <a:rPr lang="en-US" spc="-5" dirty="0">
                <a:latin typeface="Arial"/>
                <a:cs typeface="Arial"/>
              </a:rPr>
              <a:t>itemsets</a:t>
            </a:r>
            <a:r>
              <a:rPr lang="en-US" spc="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-5" dirty="0">
                <a:latin typeface="Arial"/>
                <a:cs typeface="Arial"/>
              </a:rPr>
              <a:t>length </a:t>
            </a:r>
            <a:r>
              <a:rPr lang="en-US" dirty="0">
                <a:latin typeface="Arial"/>
                <a:cs typeface="Arial"/>
              </a:rPr>
              <a:t>= 4</a:t>
            </a:r>
          </a:p>
        </p:txBody>
      </p:sp>
      <p:graphicFrame>
        <p:nvGraphicFramePr>
          <p:cNvPr id="7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967126"/>
              </p:ext>
            </p:extLst>
          </p:nvPr>
        </p:nvGraphicFramePr>
        <p:xfrm>
          <a:off x="853440" y="5671230"/>
          <a:ext cx="5334000" cy="680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Itemset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 B, C,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5040630" cy="2435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Frequent Itemset Generation: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4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marL="393700" marR="1838960">
              <a:lnSpc>
                <a:spcPts val="4200"/>
              </a:lnSpc>
              <a:spcBef>
                <a:spcPts val="245"/>
              </a:spcBef>
            </a:pPr>
            <a:r>
              <a:rPr sz="1800" spc="-5" dirty="0">
                <a:latin typeface="Arial"/>
                <a:cs typeface="Arial"/>
              </a:rPr>
              <a:t>Minimum Support count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2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Result: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109912"/>
          <a:ext cx="5867400" cy="2925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-1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 C,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 C,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 ,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 ,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4559300" cy="2313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Association Rule Mining: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marL="393700" marR="1433830">
              <a:lnSpc>
                <a:spcPct val="150000"/>
              </a:lnSpc>
              <a:spcBef>
                <a:spcPts val="725"/>
              </a:spcBef>
            </a:pPr>
            <a:r>
              <a:rPr sz="1800" spc="-5" dirty="0">
                <a:latin typeface="Arial"/>
                <a:cs typeface="Arial"/>
              </a:rPr>
              <a:t>Minimum Support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0.50  Minimum Confidence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109912"/>
          <a:ext cx="5867400" cy="2925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r>
                        <a:rPr sz="1800" spc="-1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A, C,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 C,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 ,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 ,</a:t>
                      </a:r>
                      <a:r>
                        <a:rPr sz="18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0.33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C,E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4559300" cy="2313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Association Rule Mining: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Apriori</a:t>
            </a:r>
            <a:r>
              <a:rPr sz="1800" spc="-1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333399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marL="393700" marR="1433830">
              <a:lnSpc>
                <a:spcPct val="150000"/>
              </a:lnSpc>
              <a:spcBef>
                <a:spcPts val="725"/>
              </a:spcBef>
            </a:pPr>
            <a:r>
              <a:rPr sz="1800" spc="-5" dirty="0">
                <a:latin typeface="Arial"/>
                <a:cs typeface="Arial"/>
              </a:rPr>
              <a:t>Minimum Support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5" dirty="0">
                <a:latin typeface="Arial"/>
                <a:cs typeface="Arial"/>
              </a:rPr>
              <a:t>0.50  Minimum Confidence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0.5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7712" y="3109912"/>
          <a:ext cx="5867400" cy="3292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Confidence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45593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	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R="779145" algn="r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52070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	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735330" algn="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53213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	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1.00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54483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	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68630" algn="l"/>
                        </a:tabLst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C	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7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393065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	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6863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	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46863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	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828800" y="50673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800" y="54483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8800" y="58293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8800" y="62103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28800" y="36195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05000" y="40005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5000" y="43815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8800" y="4686300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65</a:t>
            </a:fld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1219200" y="23241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81400" y="23241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39" y="559053"/>
            <a:ext cx="5441315" cy="2511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Association Rule Mining: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Other</a:t>
            </a:r>
            <a:r>
              <a:rPr sz="1800" spc="4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800000"/>
                </a:solidFill>
                <a:latin typeface="Arial"/>
                <a:cs typeface="Arial"/>
              </a:rPr>
              <a:t>Measures</a:t>
            </a:r>
            <a:endParaRPr sz="180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1440"/>
              </a:spcBef>
            </a:pPr>
            <a:r>
              <a:rPr sz="1800" spc="-5" dirty="0">
                <a:latin typeface="Arial"/>
                <a:cs typeface="Arial"/>
              </a:rPr>
              <a:t>Lift</a:t>
            </a:r>
            <a:endParaRPr sz="1800">
              <a:latin typeface="Arial"/>
              <a:cs typeface="Arial"/>
            </a:endParaRPr>
          </a:p>
          <a:p>
            <a:pPr marL="393700" marR="5080" indent="76200">
              <a:lnSpc>
                <a:spcPct val="194400"/>
              </a:lnSpc>
              <a:spcBef>
                <a:spcPts val="5"/>
              </a:spcBef>
              <a:tabLst>
                <a:tab pos="1497330" algn="l"/>
                <a:tab pos="3815079" algn="l"/>
              </a:tabLst>
            </a:pPr>
            <a:r>
              <a:rPr sz="1800" spc="-5" dirty="0">
                <a:latin typeface="Arial"/>
                <a:cs typeface="Arial"/>
              </a:rPr>
              <a:t>Lift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(A	</a:t>
            </a:r>
            <a:r>
              <a:rPr sz="1800" spc="-5" dirty="0">
                <a:latin typeface="Arial"/>
                <a:cs typeface="Arial"/>
              </a:rPr>
              <a:t>C)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Confidence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(A	</a:t>
            </a:r>
            <a:r>
              <a:rPr sz="1800" spc="-5" dirty="0">
                <a:latin typeface="Arial"/>
                <a:cs typeface="Arial"/>
              </a:rPr>
              <a:t>C) </a:t>
            </a:r>
            <a:r>
              <a:rPr sz="1800" dirty="0">
                <a:latin typeface="Arial"/>
                <a:cs typeface="Arial"/>
              </a:rPr>
              <a:t>/ </a:t>
            </a:r>
            <a:r>
              <a:rPr sz="1800" spc="-5" dirty="0">
                <a:latin typeface="Arial"/>
                <a:cs typeface="Arial"/>
              </a:rPr>
              <a:t>Support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(C)  </a:t>
            </a: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Example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47712" y="3186112"/>
          <a:ext cx="7620000" cy="10971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Confidence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88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Lift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L="807085">
                        <a:lnSpc>
                          <a:spcPct val="100000"/>
                        </a:lnSpc>
                        <a:spcBef>
                          <a:spcPts val="315"/>
                        </a:spcBef>
                        <a:tabLst>
                          <a:tab pos="1390015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	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95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 =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0.67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1.12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837565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1483360" algn="l"/>
                        </a:tabLst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	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0.75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E =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0.83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0.93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905000" y="40767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52600" y="36957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228600" y="0"/>
                </a:moveTo>
                <a:lnTo>
                  <a:pt x="228600" y="76200"/>
                </a:lnTo>
                <a:lnTo>
                  <a:pt x="292100" y="44450"/>
                </a:lnTo>
                <a:lnTo>
                  <a:pt x="241300" y="44450"/>
                </a:lnTo>
                <a:lnTo>
                  <a:pt x="241300" y="31750"/>
                </a:lnTo>
                <a:lnTo>
                  <a:pt x="292100" y="31750"/>
                </a:lnTo>
                <a:lnTo>
                  <a:pt x="228600" y="0"/>
                </a:lnTo>
                <a:close/>
              </a:path>
              <a:path w="304800" h="76200">
                <a:moveTo>
                  <a:pt x="228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304800" h="76200">
                <a:moveTo>
                  <a:pt x="292100" y="31750"/>
                </a:moveTo>
                <a:lnTo>
                  <a:pt x="241300" y="31750"/>
                </a:lnTo>
                <a:lnTo>
                  <a:pt x="241300" y="44450"/>
                </a:lnTo>
                <a:lnTo>
                  <a:pt x="292100" y="44450"/>
                </a:lnTo>
                <a:lnTo>
                  <a:pt x="304800" y="38100"/>
                </a:lnTo>
                <a:lnTo>
                  <a:pt x="292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2140" y="4461844"/>
            <a:ext cx="7844790" cy="112395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spc="-5" dirty="0">
                <a:latin typeface="Arial"/>
                <a:cs typeface="Arial"/>
              </a:rPr>
              <a:t>Criteria </a:t>
            </a:r>
            <a:r>
              <a:rPr sz="1800" dirty="0"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Lift </a:t>
            </a:r>
            <a:r>
              <a:rPr sz="1800" dirty="0">
                <a:latin typeface="Symbol"/>
                <a:cs typeface="Symbol"/>
              </a:rPr>
              <a:t>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1800" spc="-5" dirty="0">
                <a:latin typeface="Arial"/>
                <a:cs typeface="Arial"/>
              </a:rPr>
              <a:t>Lift </a:t>
            </a:r>
            <a:r>
              <a:rPr sz="1800" dirty="0">
                <a:latin typeface="Arial"/>
                <a:cs typeface="Arial"/>
              </a:rPr>
              <a:t>(A , </a:t>
            </a:r>
            <a:r>
              <a:rPr sz="1800" spc="-5" dirty="0">
                <a:latin typeface="Arial"/>
                <a:cs typeface="Arial"/>
              </a:rPr>
              <a:t>C) </a:t>
            </a:r>
            <a:r>
              <a:rPr sz="1800" dirty="0">
                <a:latin typeface="Arial"/>
                <a:cs typeface="Arial"/>
              </a:rPr>
              <a:t>= </a:t>
            </a:r>
            <a:r>
              <a:rPr sz="1800" spc="-10" dirty="0">
                <a:latin typeface="Arial"/>
                <a:cs typeface="Arial"/>
              </a:rPr>
              <a:t>1.12 </a:t>
            </a:r>
            <a:r>
              <a:rPr sz="1800" dirty="0">
                <a:latin typeface="Arial"/>
                <a:cs typeface="Arial"/>
              </a:rPr>
              <a:t>&gt; </a:t>
            </a:r>
            <a:r>
              <a:rPr sz="1800" spc="-5" dirty="0">
                <a:latin typeface="Arial"/>
                <a:cs typeface="Arial"/>
              </a:rPr>
              <a:t>Lift </a:t>
            </a:r>
            <a:r>
              <a:rPr sz="1800" spc="-10" dirty="0">
                <a:latin typeface="Arial"/>
                <a:cs typeface="Arial"/>
              </a:rPr>
              <a:t>(A </a:t>
            </a:r>
            <a:r>
              <a:rPr sz="1800" dirty="0">
                <a:latin typeface="Arial"/>
                <a:cs typeface="Arial"/>
              </a:rPr>
              <a:t>, </a:t>
            </a:r>
            <a:r>
              <a:rPr sz="1800" spc="-5" dirty="0">
                <a:latin typeface="Arial"/>
                <a:cs typeface="Arial"/>
              </a:rPr>
              <a:t>E) indicates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5" dirty="0">
                <a:latin typeface="Arial"/>
                <a:cs typeface="Arial"/>
              </a:rPr>
              <a:t>A has a greater impact on </a:t>
            </a:r>
            <a:r>
              <a:rPr sz="1800" dirty="0">
                <a:latin typeface="Arial"/>
                <a:cs typeface="Arial"/>
              </a:rPr>
              <a:t>the  </a:t>
            </a:r>
            <a:r>
              <a:rPr sz="1800" spc="-5" dirty="0">
                <a:latin typeface="Arial"/>
                <a:cs typeface="Arial"/>
              </a:rPr>
              <a:t>frequency of C than it has on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frequency of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66</a:t>
            </a:fld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305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 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pPr marL="38100">
                <a:lnSpc>
                  <a:spcPts val="1650"/>
                </a:lnSpc>
              </a:pPr>
              <a:t>67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559053"/>
            <a:ext cx="8282305" cy="63382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MARKET BASKET</a:t>
            </a:r>
            <a:r>
              <a:rPr sz="2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Arial"/>
                <a:cs typeface="Arial"/>
              </a:rPr>
              <a:t>ANALYSIS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</a:pPr>
            <a:r>
              <a:rPr sz="1800" spc="-5" dirty="0">
                <a:solidFill>
                  <a:srgbClr val="333399"/>
                </a:solidFill>
                <a:latin typeface="Arial"/>
                <a:cs typeface="Arial"/>
              </a:rPr>
              <a:t>R Code</a:t>
            </a:r>
            <a:endParaRPr sz="1800" dirty="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1440"/>
              </a:spcBef>
            </a:pPr>
            <a:r>
              <a:rPr sz="1400" spc="-10" dirty="0">
                <a:latin typeface="Arial"/>
                <a:cs typeface="Arial"/>
              </a:rPr>
              <a:t>Reading </a:t>
            </a:r>
            <a:r>
              <a:rPr sz="1400" dirty="0">
                <a:latin typeface="Arial"/>
                <a:cs typeface="Arial"/>
              </a:rPr>
              <a:t>the </a:t>
            </a:r>
            <a:r>
              <a:rPr sz="1400" spc="-5" dirty="0">
                <a:latin typeface="Arial"/>
                <a:cs typeface="Arial"/>
              </a:rPr>
              <a:t>file and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variables</a:t>
            </a:r>
            <a:endParaRPr sz="1400" dirty="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1095"/>
              </a:spcBef>
            </a:pPr>
            <a:r>
              <a:rPr sz="1400" spc="-5" dirty="0">
                <a:latin typeface="Liberation Sans Narrow"/>
                <a:cs typeface="Liberation Sans Narrow"/>
              </a:rPr>
              <a:t>&gt;target </a:t>
            </a:r>
            <a:r>
              <a:rPr sz="1400" dirty="0">
                <a:latin typeface="Liberation Sans Narrow"/>
                <a:cs typeface="Liberation Sans Narrow"/>
              </a:rPr>
              <a:t>=</a:t>
            </a:r>
            <a:r>
              <a:rPr sz="1400" spc="20" dirty="0">
                <a:latin typeface="Liberation Sans Narrow"/>
                <a:cs typeface="Liberation Sans Narrow"/>
              </a:rPr>
              <a:t> </a:t>
            </a:r>
            <a:r>
              <a:rPr sz="1400" spc="-10" dirty="0">
                <a:latin typeface="Liberation Sans Narrow"/>
                <a:cs typeface="Liberation Sans Narrow"/>
              </a:rPr>
              <a:t>mydata$items</a:t>
            </a:r>
            <a:endParaRPr sz="1400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Liberation Sans Narrow"/>
                <a:cs typeface="Liberation Sans Narrow"/>
              </a:rPr>
              <a:t>&gt;ident </a:t>
            </a:r>
            <a:r>
              <a:rPr sz="1400" dirty="0">
                <a:latin typeface="Liberation Sans Narrow"/>
                <a:cs typeface="Liberation Sans Narrow"/>
              </a:rPr>
              <a:t>=</a:t>
            </a:r>
            <a:r>
              <a:rPr sz="1400" spc="20" dirty="0">
                <a:latin typeface="Liberation Sans Narrow"/>
                <a:cs typeface="Liberation Sans Narrow"/>
              </a:rPr>
              <a:t> </a:t>
            </a:r>
            <a:r>
              <a:rPr sz="1400" spc="-10" dirty="0" err="1">
                <a:latin typeface="Liberation Sans Narrow"/>
                <a:cs typeface="Liberation Sans Narrow"/>
              </a:rPr>
              <a:t>mydata$Id</a:t>
            </a:r>
            <a:endParaRPr sz="1400" dirty="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Making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transactions</a:t>
            </a:r>
            <a:endParaRPr sz="1400" dirty="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1090"/>
              </a:spcBef>
            </a:pPr>
            <a:r>
              <a:rPr sz="1400" spc="-5" dirty="0">
                <a:latin typeface="Liberation Sans Narrow"/>
                <a:cs typeface="Liberation Sans Narrow"/>
              </a:rPr>
              <a:t>&gt;library(arules)</a:t>
            </a:r>
            <a:endParaRPr sz="1400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Liberation Sans Narrow"/>
                <a:cs typeface="Liberation Sans Narrow"/>
              </a:rPr>
              <a:t>&gt;transactions </a:t>
            </a:r>
            <a:r>
              <a:rPr sz="1400" dirty="0">
                <a:latin typeface="Liberation Sans Narrow"/>
                <a:cs typeface="Liberation Sans Narrow"/>
              </a:rPr>
              <a:t>= </a:t>
            </a:r>
            <a:r>
              <a:rPr sz="1400" spc="-5" dirty="0">
                <a:latin typeface="Liberation Sans Narrow"/>
                <a:cs typeface="Liberation Sans Narrow"/>
              </a:rPr>
              <a:t>as(split(target,</a:t>
            </a:r>
            <a:r>
              <a:rPr sz="1400" spc="60" dirty="0">
                <a:latin typeface="Liberation Sans Narrow"/>
                <a:cs typeface="Liberation Sans Narrow"/>
              </a:rPr>
              <a:t> </a:t>
            </a:r>
            <a:r>
              <a:rPr sz="1400" spc="-5" dirty="0">
                <a:latin typeface="Liberation Sans Narrow"/>
                <a:cs typeface="Liberation Sans Narrow"/>
              </a:rPr>
              <a:t>ident),”transactions”)</a:t>
            </a:r>
            <a:endParaRPr sz="1400" dirty="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Generating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rules</a:t>
            </a:r>
            <a:endParaRPr sz="1400" dirty="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1090"/>
              </a:spcBef>
            </a:pPr>
            <a:r>
              <a:rPr sz="1400" spc="-5" dirty="0">
                <a:latin typeface="Liberation Sans Narrow"/>
                <a:cs typeface="Liberation Sans Narrow"/>
              </a:rPr>
              <a:t>&gt;library(arules)</a:t>
            </a:r>
            <a:endParaRPr sz="1400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Liberation Sans Narrow"/>
                <a:cs typeface="Liberation Sans Narrow"/>
              </a:rPr>
              <a:t>&gt;myrules </a:t>
            </a:r>
            <a:r>
              <a:rPr sz="1400" dirty="0">
                <a:latin typeface="Liberation Sans Narrow"/>
                <a:cs typeface="Liberation Sans Narrow"/>
              </a:rPr>
              <a:t>= </a:t>
            </a:r>
            <a:r>
              <a:rPr sz="1400" spc="-5" dirty="0">
                <a:latin typeface="Liberation Sans Narrow"/>
                <a:cs typeface="Liberation Sans Narrow"/>
              </a:rPr>
              <a:t>apriori(transactions, parameter </a:t>
            </a:r>
            <a:r>
              <a:rPr sz="1400" dirty="0">
                <a:latin typeface="Liberation Sans Narrow"/>
                <a:cs typeface="Liberation Sans Narrow"/>
              </a:rPr>
              <a:t>= </a:t>
            </a:r>
            <a:r>
              <a:rPr sz="1400" spc="-5" dirty="0">
                <a:latin typeface="Liberation Sans Narrow"/>
                <a:cs typeface="Liberation Sans Narrow"/>
              </a:rPr>
              <a:t>list(support </a:t>
            </a:r>
            <a:r>
              <a:rPr sz="1400" dirty="0">
                <a:latin typeface="Liberation Sans Narrow"/>
                <a:cs typeface="Liberation Sans Narrow"/>
              </a:rPr>
              <a:t>= </a:t>
            </a:r>
            <a:r>
              <a:rPr sz="1400" spc="-5" dirty="0">
                <a:latin typeface="Liberation Sans Narrow"/>
                <a:cs typeface="Liberation Sans Narrow"/>
              </a:rPr>
              <a:t>0.5, confidence </a:t>
            </a:r>
            <a:r>
              <a:rPr sz="1400" dirty="0">
                <a:latin typeface="Liberation Sans Narrow"/>
                <a:cs typeface="Liberation Sans Narrow"/>
              </a:rPr>
              <a:t>= </a:t>
            </a:r>
            <a:r>
              <a:rPr sz="1400" spc="-5" dirty="0">
                <a:latin typeface="Liberation Sans Narrow"/>
                <a:cs typeface="Liberation Sans Narrow"/>
              </a:rPr>
              <a:t>0.25, </a:t>
            </a:r>
            <a:r>
              <a:rPr sz="1400" spc="-10" dirty="0">
                <a:latin typeface="Liberation Sans Narrow"/>
                <a:cs typeface="Liberation Sans Narrow"/>
              </a:rPr>
              <a:t>minlen </a:t>
            </a:r>
            <a:r>
              <a:rPr sz="1400" dirty="0">
                <a:latin typeface="Liberation Sans Narrow"/>
                <a:cs typeface="Liberation Sans Narrow"/>
              </a:rPr>
              <a:t>=</a:t>
            </a:r>
            <a:r>
              <a:rPr sz="1400" spc="240" dirty="0">
                <a:latin typeface="Liberation Sans Narrow"/>
                <a:cs typeface="Liberation Sans Narrow"/>
              </a:rPr>
              <a:t> </a:t>
            </a:r>
            <a:r>
              <a:rPr sz="1400" spc="-5" dirty="0">
                <a:latin typeface="Liberation Sans Narrow"/>
                <a:cs typeface="Liberation Sans Narrow"/>
              </a:rPr>
              <a:t>2))</a:t>
            </a:r>
            <a:endParaRPr lang="en-IN" sz="1400" spc="-5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1440"/>
              </a:spcBef>
            </a:pPr>
            <a:r>
              <a:rPr lang="en-IN" sz="1400" spc="-10" dirty="0">
                <a:latin typeface="Arial"/>
                <a:cs typeface="Arial"/>
              </a:rPr>
              <a:t>Displaying</a:t>
            </a:r>
            <a:r>
              <a:rPr lang="en-IN" sz="1400" spc="35" dirty="0">
                <a:latin typeface="Arial"/>
                <a:cs typeface="Arial"/>
              </a:rPr>
              <a:t> </a:t>
            </a:r>
            <a:r>
              <a:rPr lang="en-IN" sz="1400" spc="-5" dirty="0">
                <a:latin typeface="Arial"/>
                <a:cs typeface="Arial"/>
              </a:rPr>
              <a:t>rules</a:t>
            </a:r>
            <a:endParaRPr lang="en-IN" sz="1400" dirty="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1095"/>
              </a:spcBef>
            </a:pPr>
            <a:r>
              <a:rPr lang="en-IN" sz="1400" spc="-5" dirty="0">
                <a:latin typeface="Liberation Sans Narrow"/>
                <a:cs typeface="Liberation Sans Narrow"/>
              </a:rPr>
              <a:t>&gt;</a:t>
            </a:r>
            <a:r>
              <a:rPr lang="en-IN" sz="1400" spc="-5" dirty="0" err="1">
                <a:latin typeface="Liberation Sans Narrow"/>
                <a:cs typeface="Liberation Sans Narrow"/>
              </a:rPr>
              <a:t>myrules</a:t>
            </a:r>
            <a:endParaRPr lang="en-IN" sz="1400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1080"/>
              </a:spcBef>
            </a:pPr>
            <a:r>
              <a:rPr lang="en-IN" sz="1400" spc="-5" dirty="0">
                <a:latin typeface="Liberation Sans Narrow"/>
                <a:cs typeface="Liberation Sans Narrow"/>
              </a:rPr>
              <a:t>&gt;inspect(</a:t>
            </a:r>
            <a:r>
              <a:rPr lang="en-IN" sz="1400" spc="-5" dirty="0" err="1">
                <a:latin typeface="Liberation Sans Narrow"/>
                <a:cs typeface="Liberation Sans Narrow"/>
              </a:rPr>
              <a:t>myrules</a:t>
            </a:r>
            <a:r>
              <a:rPr lang="en-IN" sz="1400" spc="-5" dirty="0">
                <a:latin typeface="Liberation Sans Narrow"/>
                <a:cs typeface="Liberation Sans Narrow"/>
              </a:rPr>
              <a:t>)</a:t>
            </a:r>
            <a:endParaRPr lang="en-IN" sz="1400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1080"/>
              </a:spcBef>
            </a:pPr>
            <a:endParaRPr lang="en-IN" sz="1800" spc="-5" dirty="0">
              <a:latin typeface="Liberation Sans Narrow"/>
              <a:cs typeface="Liberation Sans Narrow"/>
            </a:endParaRPr>
          </a:p>
          <a:p>
            <a:pPr marL="431800">
              <a:lnSpc>
                <a:spcPct val="100000"/>
              </a:lnSpc>
              <a:spcBef>
                <a:spcPts val="1080"/>
              </a:spcBef>
            </a:pPr>
            <a:endParaRPr sz="1800" dirty="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581400" y="418998"/>
            <a:ext cx="357949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lang="en-IN" sz="2200" b="1" spc="-25" dirty="0">
                <a:latin typeface="Arial"/>
                <a:cs typeface="Arial"/>
              </a:rPr>
              <a:t>CHEAT SHEET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68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86615"/>
            <a:ext cx="6934200" cy="535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473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581400" y="418998"/>
            <a:ext cx="357949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lang="en-IN" sz="2200" b="1" spc="-25" dirty="0">
                <a:latin typeface="Arial"/>
                <a:cs typeface="Arial"/>
              </a:rPr>
              <a:t>CHEAT SHEET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69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11" name="Content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62" y="1587260"/>
            <a:ext cx="8098864" cy="503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807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581400" y="418998"/>
            <a:ext cx="357949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lang="en-IN" sz="2200" b="1" spc="-25" dirty="0">
                <a:latin typeface="Arial"/>
                <a:cs typeface="Arial"/>
              </a:rPr>
              <a:t>CHEAT SHEET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70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81" y="1981200"/>
            <a:ext cx="74771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713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581400" y="418998"/>
            <a:ext cx="357949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lang="en-IN" sz="2200" b="1" spc="-25" dirty="0">
                <a:latin typeface="Arial"/>
                <a:cs typeface="Arial"/>
              </a:rPr>
              <a:t>CHEAT SHEET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71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1026" name="Picture 2" descr="image classification algorithms in machine learning - Cheap Online Shopping  -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00200"/>
            <a:ext cx="6134100" cy="462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2331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581400" y="418998"/>
            <a:ext cx="357949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lang="en-IN" sz="2200" b="1" spc="-25" dirty="0">
                <a:latin typeface="Arial"/>
                <a:cs typeface="Arial"/>
              </a:rPr>
              <a:t>CHEAT SHEET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72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143000"/>
            <a:ext cx="5638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757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581400" y="418998"/>
            <a:ext cx="357949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lang="en-IN" sz="2200" b="1" spc="-25" dirty="0">
                <a:latin typeface="Arial"/>
                <a:cs typeface="Arial"/>
              </a:rPr>
              <a:t>CHEAT SHEET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73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66800"/>
            <a:ext cx="9144000" cy="586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900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514600" y="434231"/>
            <a:ext cx="624649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>
              <a:lnSpc>
                <a:spcPct val="100000"/>
              </a:lnSpc>
              <a:spcBef>
                <a:spcPts val="95"/>
              </a:spcBef>
            </a:pPr>
            <a:r>
              <a:rPr lang="en-IN" sz="2200" b="1" spc="-25" dirty="0">
                <a:latin typeface="Arial"/>
                <a:cs typeface="Arial"/>
              </a:rPr>
              <a:t>TEXTBOOKS &amp; REFERENCES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4606" y="6447704"/>
            <a:ext cx="229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pPr marL="38100">
                <a:lnSpc>
                  <a:spcPts val="1410"/>
                </a:lnSpc>
              </a:pPr>
              <a:t>74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62484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143000"/>
            <a:ext cx="4038600" cy="565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623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43000" y="452420"/>
            <a:ext cx="73152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935" marR="5080" indent="-1118870" algn="ctr">
              <a:lnSpc>
                <a:spcPct val="100000"/>
              </a:lnSpc>
              <a:spcBef>
                <a:spcPts val="95"/>
              </a:spcBef>
            </a:pPr>
            <a:r>
              <a:rPr lang="en-IN" sz="2000" b="1" spc="-25" dirty="0">
                <a:solidFill>
                  <a:srgbClr val="002060"/>
                </a:solidFill>
                <a:cs typeface="Arial"/>
              </a:rPr>
              <a:t>END OF MULTIVARIATE DATA ANALYTICS COURSE</a:t>
            </a:r>
            <a:endParaRPr sz="2000" dirty="0">
              <a:solidFill>
                <a:srgbClr val="002060"/>
              </a:solidFill>
              <a:cs typeface="Arial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390" y="401523"/>
            <a:ext cx="8983218" cy="307777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62484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050" name="Picture 2" descr="Saying goodbye quot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1667518"/>
            <a:ext cx="6667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7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4859</Words>
  <Application>Microsoft Office PowerPoint</Application>
  <PresentationFormat>On-screen Show (4:3)</PresentationFormat>
  <Paragraphs>1537</Paragraphs>
  <Slides>75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3" baseType="lpstr">
      <vt:lpstr>Arial</vt:lpstr>
      <vt:lpstr>Calibri</vt:lpstr>
      <vt:lpstr>Carlito</vt:lpstr>
      <vt:lpstr>Comic Sans MS</vt:lpstr>
      <vt:lpstr>Liberation Sans Narrow</vt:lpstr>
      <vt:lpstr>Symbol</vt:lpstr>
      <vt:lpstr>Times New Roman</vt:lpstr>
      <vt:lpstr>Office Theme</vt:lpstr>
      <vt:lpstr> </vt:lpstr>
      <vt:lpstr>PowerPoint Presentation</vt:lpstr>
      <vt:lpstr> </vt:lpstr>
      <vt:lpstr> </vt:lpstr>
      <vt:lpstr> </vt:lpstr>
      <vt:lpstr>PRINCIPAL COMPONENTS ANALYSIS</vt:lpstr>
      <vt:lpstr> </vt:lpstr>
      <vt:lpstr>PRINCIPAL COMPONENTS ANALYSIS</vt:lpstr>
      <vt:lpstr> </vt:lpstr>
      <vt:lpstr> </vt:lpstr>
      <vt:lpstr>PowerPoint Presentation</vt:lpstr>
      <vt:lpstr> </vt:lpstr>
      <vt:lpstr> </vt:lpstr>
      <vt:lpstr> </vt:lpstr>
      <vt:lpstr> </vt:lpstr>
      <vt:lpstr> </vt:lpstr>
      <vt:lpstr> </vt:lpstr>
      <vt:lpstr>PRINCIPAL COMPONENTS ANALYSIS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FACTOR ANALYSIS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MARKET BASKET ANALYSIS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SQC</dc:creator>
  <cp:lastModifiedBy>Tanujit Chakraborty</cp:lastModifiedBy>
  <cp:revision>35</cp:revision>
  <dcterms:created xsi:type="dcterms:W3CDTF">2021-09-11T04:26:19Z</dcterms:created>
  <dcterms:modified xsi:type="dcterms:W3CDTF">2022-04-26T07:53:28Z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2015-08-11T00:00:00Z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2021-09-11T00:00:00Z</vt:filetime>
  </property>
</Properties>
</file>